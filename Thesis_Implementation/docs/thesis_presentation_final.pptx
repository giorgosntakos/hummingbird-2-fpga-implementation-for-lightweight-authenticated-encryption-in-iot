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00" r:id="rId2"/>
    <p:sldId id="342" r:id="rId3"/>
    <p:sldId id="346" r:id="rId4"/>
    <p:sldId id="348" r:id="rId5"/>
    <p:sldId id="349" r:id="rId6"/>
    <p:sldId id="352" r:id="rId7"/>
    <p:sldId id="353" r:id="rId8"/>
    <p:sldId id="390" r:id="rId9"/>
    <p:sldId id="358" r:id="rId10"/>
    <p:sldId id="364" r:id="rId11"/>
    <p:sldId id="365" r:id="rId12"/>
    <p:sldId id="366" r:id="rId13"/>
    <p:sldId id="367" r:id="rId14"/>
    <p:sldId id="391" r:id="rId15"/>
    <p:sldId id="368" r:id="rId16"/>
    <p:sldId id="369" r:id="rId17"/>
    <p:sldId id="370" r:id="rId18"/>
    <p:sldId id="371" r:id="rId19"/>
    <p:sldId id="372" r:id="rId20"/>
    <p:sldId id="393" r:id="rId21"/>
    <p:sldId id="394" r:id="rId22"/>
    <p:sldId id="373" r:id="rId23"/>
    <p:sldId id="374" r:id="rId24"/>
    <p:sldId id="388" r:id="rId25"/>
    <p:sldId id="389" r:id="rId26"/>
    <p:sldId id="392" r:id="rId27"/>
    <p:sldId id="377" r:id="rId28"/>
    <p:sldId id="378" r:id="rId29"/>
    <p:sldId id="379" r:id="rId30"/>
    <p:sldId id="380" r:id="rId31"/>
    <p:sldId id="395" r:id="rId32"/>
    <p:sldId id="396" r:id="rId33"/>
    <p:sldId id="344" r:id="rId34"/>
    <p:sldId id="347" r:id="rId35"/>
    <p:sldId id="345" r:id="rId36"/>
    <p:sldId id="381" r:id="rId37"/>
    <p:sldId id="383" r:id="rId38"/>
    <p:sldId id="397" r:id="rId39"/>
    <p:sldId id="359" r:id="rId40"/>
  </p:sldIdLst>
  <p:sldSz cx="12192000" cy="6858000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521415D9-36F7-43E2-AB2F-B90AF26B5E84}">
      <p14:sectionLst xmlns:p14="http://schemas.microsoft.com/office/powerpoint/2010/main">
        <p14:section name="Προεπιλεγμένη ενότητα" id="{E140EE34-12CC-4AA8-B75E-847E6AC603AC}">
          <p14:sldIdLst>
            <p14:sldId id="300"/>
            <p14:sldId id="342"/>
            <p14:sldId id="346"/>
            <p14:sldId id="348"/>
            <p14:sldId id="349"/>
            <p14:sldId id="352"/>
            <p14:sldId id="353"/>
            <p14:sldId id="390"/>
            <p14:sldId id="358"/>
            <p14:sldId id="364"/>
            <p14:sldId id="365"/>
            <p14:sldId id="366"/>
            <p14:sldId id="367"/>
            <p14:sldId id="391"/>
            <p14:sldId id="368"/>
            <p14:sldId id="369"/>
            <p14:sldId id="370"/>
            <p14:sldId id="371"/>
            <p14:sldId id="372"/>
            <p14:sldId id="393"/>
            <p14:sldId id="394"/>
            <p14:sldId id="373"/>
            <p14:sldId id="374"/>
            <p14:sldId id="388"/>
            <p14:sldId id="389"/>
            <p14:sldId id="392"/>
            <p14:sldId id="377"/>
            <p14:sldId id="378"/>
            <p14:sldId id="379"/>
            <p14:sldId id="380"/>
            <p14:sldId id="395"/>
            <p14:sldId id="396"/>
            <p14:sldId id="344"/>
            <p14:sldId id="347"/>
          </p14:sldIdLst>
        </p14:section>
        <p14:section name="Ενότητα χωρίς τίτλο" id="{5510E4CF-39BD-4F43-85B5-BD8A98C406E1}">
          <p14:sldIdLst>
            <p14:sldId id="345"/>
            <p14:sldId id="381"/>
            <p14:sldId id="383"/>
            <p14:sldId id="397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5193E-3ACC-4AE4-BEF6-5465914491DC}" v="2" dt="2024-12-18T21:01:26.17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  <a:nwCell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D5ABB26-0587-4C30-8999-92F81FD0307C}" styleName="Χωρίς στυλ, χωρίς πλέγμα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724" autoAdjust="0"/>
  </p:normalViewPr>
  <p:slideViewPr>
    <p:cSldViewPr>
      <p:cViewPr varScale="1">
        <p:scale>
          <a:sx n="160" d="100"/>
          <a:sy n="160" d="100"/>
        </p:scale>
        <p:origin x="318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5E8FF5-4C4D-E94F-814C-407846CBC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AD846-DE75-4A41-A037-BF9FB55F57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60DBF-7A5E-8C4D-A13A-AF4A4EC35D78}" type="datetimeFigureOut">
              <a:rPr lang="el-GR" smtClean="0"/>
              <a:t>18/12/2024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ECBDF-F6DE-6C43-BE5D-524EFA00C6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65B9E-CF6F-8A4C-8EEB-F539A45BC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2D82A-9F81-C049-BF42-9A1D3CE1466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72006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3:12:54.9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2091 0,'-2079'0,"2067"0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23:14:14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24575,'82'-1'0,"88"3"0,-128 8 0,-38-9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3:14:23.3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0,'19438'0,"-19423"0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C238408C-6839-46EE-8131-EDA75C487F2E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87D77045-401A-4D5E-BFE3-54C21A8A66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87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94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27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70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20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7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64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33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9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0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10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23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5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49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68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73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29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25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84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44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56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1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34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5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0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57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561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63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13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091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85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03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364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311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17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2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3977A9-2553-4FD6-ACA1-36D8515BAB31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9200" y="6416676"/>
            <a:ext cx="7416800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6C526D5-D42F-C84B-B400-1169F0F79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5365" y="738271"/>
            <a:ext cx="10218909" cy="1974059"/>
          </a:xfrm>
        </p:spPr>
        <p:txBody>
          <a:bodyPr anchor="b">
            <a:scene3d>
              <a:camera prst="orthographicFront">
                <a:rot lat="0" lon="0" rev="0"/>
              </a:camera>
              <a:lightRig rig="contrasting" dir="t">
                <a:rot lat="0" lon="0" rev="7500000"/>
              </a:lightRig>
            </a:scene3d>
            <a:sp3d contourW="6350" prstMaterial="metal">
              <a:bevelT w="13081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ctr">
              <a:buNone/>
              <a:defRPr lang="en-US" sz="4400" b="1" cap="all" dirty="0">
                <a:ln/>
                <a:solidFill>
                  <a:schemeClr val="accent1"/>
                </a:solidFill>
                <a:effectLst>
                  <a:reflection blurRad="12700" stA="50000" endPos="50000" dir="5400000" sy="-100000" rotWithShape="0"/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en-US" dirty="0">
                <a:solidFill>
                  <a:schemeClr val="accent1"/>
                </a:solidFill>
              </a:rPr>
              <a:t>Presentation title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A541BAE-15ED-C346-83F9-29FBAB43E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3501008"/>
            <a:ext cx="10261600" cy="2520281"/>
          </a:xfrm>
        </p:spPr>
        <p:txBody>
          <a:bodyPr anchor="t"/>
          <a:lstStyle>
            <a:lvl1pPr marL="374904" algn="ctr">
              <a:buNone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66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3352801"/>
            <a:ext cx="10363200" cy="1974059"/>
          </a:xfrm>
        </p:spPr>
        <p:txBody>
          <a:bodyPr anchor="b">
            <a:scene3d>
              <a:camera prst="orthographicFront">
                <a:rot lat="0" lon="0" rev="0"/>
              </a:camera>
              <a:lightRig rig="contrasting" dir="t">
                <a:rot lat="0" lon="0" rev="7500000"/>
              </a:lightRig>
            </a:scene3d>
            <a:sp3d contourW="6350" prstMaterial="metal">
              <a:bevelT w="13081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>
              <a:buNone/>
              <a:defRPr lang="en-US" sz="4000" b="1" cap="all" dirty="0">
                <a:ln/>
                <a:solidFill>
                  <a:schemeClr val="accent1"/>
                </a:solidFill>
                <a:effectLst>
                  <a:reflection blurRad="12700" stA="50000" endPos="50000" dir="5400000" sy="-100000" rotWithShape="0"/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en-US" dirty="0">
                <a:solidFill>
                  <a:schemeClr val="accent1"/>
                </a:solidFill>
              </a:rPr>
              <a:t>Presentation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5334000"/>
            <a:ext cx="10363200" cy="1052512"/>
          </a:xfrm>
        </p:spPr>
        <p:txBody>
          <a:bodyPr anchor="t"/>
          <a:lstStyle>
            <a:lvl1pPr marL="374904">
              <a:buNone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63977A9-2553-4FD6-ACA1-36D8515BAB31}" type="datetime1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9200" y="6416676"/>
            <a:ext cx="7416800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07AA-A463-3242-A50B-FBFB1A626B77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2019-20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B7BA1-03F8-8C4B-9B9E-71B7F2C9A4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0807" y="550813"/>
            <a:ext cx="843186" cy="84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0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7" name="Rectangle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23392" y="512064"/>
            <a:ext cx="10959008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23392" y="1783560"/>
            <a:ext cx="10959008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>
              <a:defRPr sz="11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F811E8F6-3A19-4AC7-893C-A98880BAB4B2}" type="datetime1">
              <a:rPr lang="en-US" smtClean="0"/>
              <a:pPr/>
              <a:t>12/18/2024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1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>
              <a:defRPr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5" r:id="rId3"/>
  </p:sldLayoutIdLst>
  <p:hf hdr="0" dt="0"/>
  <p:txStyles>
    <p:titleStyle>
      <a:lvl1pPr algn="l" rtl="0" eaLnBrk="1" latinLnBrk="0" hangingPunct="1">
        <a:spcBef>
          <a:spcPct val="0"/>
        </a:spcBef>
        <a:buNone/>
        <a:defRPr sz="4000" kern="1200" spc="-150" baseline="0">
          <a:solidFill>
            <a:schemeClr val="tx2">
              <a:satMod val="200000"/>
            </a:schemeClr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SzPct val="95000"/>
        <a:buFont typeface="Wingdings"/>
        <a:buChar char=""/>
        <a:defRPr sz="3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00.png"/><Relationship Id="rId10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2090710" y="692697"/>
            <a:ext cx="8325770" cy="2255049"/>
          </a:xfrm>
        </p:spPr>
        <p:txBody>
          <a:bodyPr/>
          <a:lstStyle/>
          <a:p>
            <a:pPr algn="ctr"/>
            <a:r>
              <a:rPr lang="el-GR" dirty="0" err="1"/>
              <a:t>ΣχεδιασµΟς</a:t>
            </a:r>
            <a:r>
              <a:rPr lang="el-GR" dirty="0"/>
              <a:t> και </a:t>
            </a:r>
            <a:r>
              <a:rPr lang="el-GR" dirty="0" err="1"/>
              <a:t>ΥΛΟΠΟΙΗΣη</a:t>
            </a:r>
            <a:r>
              <a:rPr lang="el-GR" dirty="0"/>
              <a:t> </a:t>
            </a:r>
            <a:r>
              <a:rPr lang="el-GR" dirty="0" err="1"/>
              <a:t>Lightweight</a:t>
            </a:r>
            <a:r>
              <a:rPr lang="el-GR" dirty="0"/>
              <a:t> </a:t>
            </a:r>
            <a:r>
              <a:rPr lang="el-GR" dirty="0" err="1"/>
              <a:t>Authenticated</a:t>
            </a:r>
            <a:r>
              <a:rPr lang="el-GR" dirty="0"/>
              <a:t> </a:t>
            </a:r>
            <a:r>
              <a:rPr lang="el-GR" dirty="0" err="1"/>
              <a:t>ΣυστΗµατος</a:t>
            </a:r>
            <a:r>
              <a:rPr lang="el-GR" dirty="0"/>
              <a:t> </a:t>
            </a:r>
            <a:r>
              <a:rPr lang="el-GR" dirty="0" err="1"/>
              <a:t>ΚρυπτογρΑφησης</a:t>
            </a:r>
            <a:r>
              <a:rPr lang="el-GR" dirty="0"/>
              <a:t>, για το </a:t>
            </a:r>
            <a:r>
              <a:rPr lang="el-GR" dirty="0" err="1"/>
              <a:t>ΔιαδΙκτυο</a:t>
            </a:r>
            <a:r>
              <a:rPr lang="el-GR" dirty="0"/>
              <a:t> των </a:t>
            </a:r>
            <a:r>
              <a:rPr lang="el-GR" dirty="0" err="1"/>
              <a:t>ΠραγµΑτων</a:t>
            </a:r>
            <a:endParaRPr lang="el-GR" dirty="0"/>
          </a:p>
        </p:txBody>
      </p:sp>
      <p:sp>
        <p:nvSpPr>
          <p:cNvPr id="5" name="Rectangle 4"/>
          <p:cNvSpPr>
            <a:spLocks noGrp="1"/>
          </p:cNvSpPr>
          <p:nvPr>
            <p:ph type="body" idx="1"/>
          </p:nvPr>
        </p:nvSpPr>
        <p:spPr>
          <a:xfrm>
            <a:off x="2090710" y="3645025"/>
            <a:ext cx="8325770" cy="2771651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l-GR" sz="2400" dirty="0"/>
              <a:t>Γεώργιος Ντάκος</a:t>
            </a:r>
            <a:endParaRPr lang="en-US" sz="2400" dirty="0"/>
          </a:p>
          <a:p>
            <a:pPr algn="ctr"/>
            <a:r>
              <a:rPr lang="el-GR" sz="2400" dirty="0"/>
              <a:t>Επιβλέπων: Νικόλαος Σκλάβος</a:t>
            </a:r>
          </a:p>
          <a:p>
            <a:pPr algn="ctr"/>
            <a:endParaRPr lang="el-GR" sz="2400" dirty="0"/>
          </a:p>
          <a:p>
            <a:pPr algn="ctr"/>
            <a:r>
              <a:rPr lang="el-GR" sz="2400" dirty="0"/>
              <a:t>Παρουσίαση Διπλωματικής Εργασίας</a:t>
            </a:r>
          </a:p>
          <a:p>
            <a:endParaRPr lang="el-GR" sz="2400" dirty="0"/>
          </a:p>
          <a:p>
            <a:pPr algn="ctr"/>
            <a:r>
              <a:rPr lang="el-GR" sz="2400" dirty="0"/>
              <a:t> Τμήμα Μηχανικών Ηλεκτρονικών Υπολογιστών και Πληροφορικής,</a:t>
            </a:r>
          </a:p>
          <a:p>
            <a:pPr algn="ctr"/>
            <a:r>
              <a:rPr lang="el-GR" sz="2400" dirty="0"/>
              <a:t>Πανεπιστήμιο Πατρών</a:t>
            </a:r>
          </a:p>
          <a:p>
            <a:pPr algn="ctr"/>
            <a:r>
              <a:rPr lang="el-GR" sz="2400" dirty="0"/>
              <a:t>Οκτώβριος,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9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1"/>
    </mc:Choice>
    <mc:Fallback xmlns="">
      <p:transition spd="slow" advTm="10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44F9-C83B-7848-9E62-50AB9AC8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Περίγραμμα Παρουσίασης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9741-5567-3B49-A5FE-F65E2BC6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Ανάγκη για Ασφαλή και Αποδοτικά Συστήματα στο </a:t>
            </a:r>
            <a:r>
              <a:rPr lang="en-US" dirty="0"/>
              <a:t>Internet of Things (IoT)</a:t>
            </a:r>
            <a:endParaRPr lang="el-GR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Υλοποίηση και Στόχοι της Εργασίας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Ρόλος της Κρυπτογραφίας και Προκλήσεις Ασφάλειας στο </a:t>
            </a:r>
            <a:r>
              <a:rPr lang="en-US" dirty="0"/>
              <a:t>IoT</a:t>
            </a:r>
            <a:endParaRPr lang="el-GR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Βασικά Κρυπτογραφικά Δομικά Στοιχεία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Οικογένεια </a:t>
            </a:r>
            <a:r>
              <a:rPr lang="en-US" dirty="0"/>
              <a:t>Hummingbird (HB)</a:t>
            </a:r>
            <a:endParaRPr lang="el-GR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Προτεινόμενος Σχεδιασμός και Βελτιστοποιήσεις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Σύγκριση Αποτελεσμάτων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Συμπεράσματα</a:t>
            </a:r>
            <a:r>
              <a:rPr lang="en-US" dirty="0"/>
              <a:t> </a:t>
            </a:r>
            <a:r>
              <a:rPr lang="el-GR" dirty="0"/>
              <a:t>και Μελλοντικές Βελτιστοποιήσεις </a:t>
            </a:r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2110A-399F-0543-AD1C-49B3BE04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5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FE053CB-2481-0403-9789-B2B1B5BA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Ανάγκη για Ασφαλή και Αποδοτικά Συστήματα στο </a:t>
            </a:r>
            <a:r>
              <a:rPr lang="el-GR" dirty="0" err="1"/>
              <a:t>IoT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9C90D9D-360D-8027-C275-48F6FBE8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l-GR" sz="2000" dirty="0"/>
              <a:t>Με τη ραγδαία ανάπτυξη του </a:t>
            </a:r>
            <a:r>
              <a:rPr lang="en-US" sz="2000" dirty="0"/>
              <a:t>IoT</a:t>
            </a:r>
            <a:r>
              <a:rPr lang="el-GR" sz="2000" dirty="0"/>
              <a:t> απαιτούνται λύσεις με χαμηλή καθυστέρηση, υψηλή ταχύτητα και χαμηλή κατανάλωση.</a:t>
            </a:r>
          </a:p>
          <a:p>
            <a:pPr lvl="1"/>
            <a:endParaRPr lang="en-US" sz="2000" dirty="0"/>
          </a:p>
          <a:p>
            <a:r>
              <a:rPr lang="el-GR" sz="2000" dirty="0" err="1"/>
              <a:t>Στοχοποίηση</a:t>
            </a:r>
            <a:r>
              <a:rPr lang="el-GR" sz="2000" dirty="0"/>
              <a:t> </a:t>
            </a:r>
            <a:r>
              <a:rPr lang="en-US" sz="2000" dirty="0"/>
              <a:t>IoT </a:t>
            </a:r>
            <a:r>
              <a:rPr lang="el-GR" sz="2000" dirty="0"/>
              <a:t>συσκευών λόγω ανεπαρκών μηχανισμών ασφαλείας και ενημερώσεων.</a:t>
            </a:r>
          </a:p>
          <a:p>
            <a:pPr lvl="1"/>
            <a:endParaRPr lang="el-GR" sz="2000" dirty="0"/>
          </a:p>
          <a:p>
            <a:r>
              <a:rPr lang="el-GR" sz="2000" dirty="0"/>
              <a:t>Ανάγκη για αποδοτικά πρωτόκολλα ασφάλειας που προστατεύουν τα δεδομένα, εξασφαλίζοντας ταυτόχρονα υψηλή απόδοση.</a:t>
            </a:r>
          </a:p>
          <a:p>
            <a:pPr lvl="1"/>
            <a:endParaRPr lang="el-GR" sz="2000" dirty="0"/>
          </a:p>
          <a:p>
            <a:r>
              <a:rPr lang="el-GR" sz="2000" dirty="0"/>
              <a:t>Η διείσδυση του </a:t>
            </a:r>
            <a:r>
              <a:rPr lang="en-US" sz="2000" dirty="0"/>
              <a:t>IoT </a:t>
            </a:r>
            <a:r>
              <a:rPr lang="el-GR" sz="2000" dirty="0"/>
              <a:t>στην καθημερινή ζωή απαιτεί ασφαλείς επικοινωνίες σε τομείς όπως η υγεία και οι έξυπνες πόλεις.</a:t>
            </a:r>
          </a:p>
          <a:p>
            <a:pPr lvl="1"/>
            <a:endParaRPr lang="el-GR" sz="2000" dirty="0"/>
          </a:p>
          <a:p>
            <a:r>
              <a:rPr lang="el-GR" sz="2000" dirty="0"/>
              <a:t>Η διασύνδεση και η μεταφορά ευαίσθητων δεδομένων αυξάνουν την πολυπλοκότητα και τον κίνδυνο των επιθέσεων.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B42C8C8-D409-F571-28DA-54769F17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8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0D51FFD-C99E-9452-A7AA-4A989C53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Υλοποίηση και Στόχοι της Εργασίας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CA19E6D-8780-7F29-253A-E62DEF14C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l-GR" dirty="0"/>
              <a:t>Υλοποίηση του </a:t>
            </a:r>
            <a:r>
              <a:rPr lang="en-US" dirty="0"/>
              <a:t>HB-2</a:t>
            </a:r>
            <a:r>
              <a:rPr lang="el-GR" dirty="0"/>
              <a:t>:</a:t>
            </a:r>
          </a:p>
          <a:p>
            <a:pPr lvl="1"/>
            <a:r>
              <a:rPr lang="el-GR" dirty="0"/>
              <a:t>Βελτιστοποιημένη έκδοση </a:t>
            </a:r>
            <a:r>
              <a:rPr lang="en-US" dirty="0"/>
              <a:t>HB-2 </a:t>
            </a:r>
            <a:r>
              <a:rPr lang="el-GR" dirty="0"/>
              <a:t>σε </a:t>
            </a:r>
            <a:r>
              <a:rPr lang="en-US" dirty="0"/>
              <a:t>FPGA, </a:t>
            </a:r>
            <a:r>
              <a:rPr lang="el-GR" dirty="0"/>
              <a:t>με έμφαση την αποδοτικότητα και ασφάλεια.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 Αύξηση Απόδοσης:</a:t>
            </a:r>
            <a:endParaRPr lang="en-US" dirty="0"/>
          </a:p>
          <a:p>
            <a:pPr lvl="1"/>
            <a:r>
              <a:rPr lang="el-GR" dirty="0"/>
              <a:t>Βελτιώσεις στη συχνότητα λειτουργίας και μείωση της επιφάνειας υλικού.</a:t>
            </a:r>
          </a:p>
          <a:p>
            <a:pPr marL="454914" lvl="1" indent="0">
              <a:buNone/>
            </a:pPr>
            <a:endParaRPr lang="en-US" dirty="0"/>
          </a:p>
          <a:p>
            <a:r>
              <a:rPr lang="el-GR" dirty="0"/>
              <a:t>Βελτιστοποίηση Αρχιτεκτονικής:</a:t>
            </a:r>
          </a:p>
          <a:p>
            <a:pPr lvl="1"/>
            <a:r>
              <a:rPr lang="el-GR" dirty="0"/>
              <a:t>Τεχνικές για μείωση κόστους και βελτίωση απόδοσης σε συσκευές με περιορισμένους πόρους.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Προσαρμογή σε Εφαρμογές με Περιορισμένους Πόρους:</a:t>
            </a:r>
          </a:p>
          <a:p>
            <a:pPr lvl="1"/>
            <a:r>
              <a:rPr lang="el-GR" dirty="0"/>
              <a:t>Σχεδιασμός για </a:t>
            </a:r>
            <a:r>
              <a:rPr lang="en-US" dirty="0"/>
              <a:t>RFID </a:t>
            </a:r>
            <a:r>
              <a:rPr lang="el-GR" dirty="0"/>
              <a:t>και ασύρματους αισθητήρες, με στόχο την εξοικονόμηση πόρων και ασφάλεια.</a:t>
            </a:r>
            <a:br>
              <a:rPr lang="el-GR" dirty="0"/>
            </a:b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51A783B-C984-7D88-3B0C-86BFAAF9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5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83B4F1D-7FE1-E9DE-7F2C-90FA8BCB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Ρόλος της Κρυπτογραφίας στο </a:t>
            </a:r>
            <a:r>
              <a:rPr lang="en-US" dirty="0"/>
              <a:t>IoT</a:t>
            </a:r>
            <a:r>
              <a:rPr lang="el-GR" dirty="0"/>
              <a:t> &amp; Προκλήσεις Ασφάλειας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9789A82-B09E-5AD0-6466-340FD757A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l-GR" dirty="0"/>
              <a:t>Ασφάλεια δικτύου.</a:t>
            </a:r>
          </a:p>
          <a:p>
            <a:pPr lvl="1"/>
            <a:endParaRPr lang="el-GR" dirty="0"/>
          </a:p>
          <a:p>
            <a:r>
              <a:rPr lang="el-GR" dirty="0" err="1"/>
              <a:t>Αυθεντικοποίηση</a:t>
            </a:r>
            <a:r>
              <a:rPr lang="el-GR" dirty="0"/>
              <a:t>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Αξιοπιστία Επικοινωνιών.</a:t>
            </a:r>
          </a:p>
          <a:p>
            <a:pPr lvl="1"/>
            <a:endParaRPr lang="el-GR" dirty="0"/>
          </a:p>
          <a:p>
            <a:r>
              <a:rPr lang="el-GR" dirty="0"/>
              <a:t>Περιορισμένοι Πόροι.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Έλλειψη Προτύπων.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Εξάρτηση από </a:t>
            </a:r>
            <a:r>
              <a:rPr lang="el-GR" dirty="0" err="1"/>
              <a:t>Παρόχους</a:t>
            </a:r>
            <a:r>
              <a:rPr lang="el-GR" dirty="0"/>
              <a:t>.</a:t>
            </a:r>
          </a:p>
          <a:p>
            <a:pPr marL="454914" lvl="1" indent="0">
              <a:buNone/>
            </a:pPr>
            <a:endParaRPr lang="el-GR" dirty="0"/>
          </a:p>
          <a:p>
            <a:r>
              <a:rPr lang="el-GR" dirty="0"/>
              <a:t>Ελλιπής Εκπαίδευση.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3344E84-2E96-1EF2-0036-AA4447A6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4" name="Θέση περιεχομένου 6" descr="Εικόνα που περιέχει κείμενο, compact disc, κύκλος, συσκευή αποθήκευσης δεδομένων&#10;&#10;Περιγραφή που δημιουργήθηκε αυτόματα">
            <a:extLst>
              <a:ext uri="{FF2B5EF4-FFF2-40B4-BE49-F238E27FC236}">
                <a16:creationId xmlns:a16="http://schemas.microsoft.com/office/drawing/2014/main" id="{BB7A0A26-8C6A-15B4-B7BD-F44262B30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1268760"/>
            <a:ext cx="5303808" cy="530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7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A89AB7-01E2-DAFE-AADB-2C119433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Είδη Κρυπτογραφικών Αλγορίθμων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14CD21D-2EFE-11A0-1A35-98CC992D9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Δύο τύποι κρυπτογραφικών αλγορίθμων: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Συμμετρικοί.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Ασύμμετροι. </a:t>
            </a:r>
            <a:endParaRPr lang="en-US" dirty="0"/>
          </a:p>
          <a:p>
            <a:pPr marL="454914" lvl="1" indent="0">
              <a:buNone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Η επιλογή του κατάλληλου αλγόριθμου εξαρτάται από τις απαιτήσεις ασφάλειας και τους περιορισμούς των </a:t>
            </a:r>
            <a:r>
              <a:rPr lang="en-US" dirty="0"/>
              <a:t>IoT </a:t>
            </a:r>
            <a:r>
              <a:rPr lang="el-GR" dirty="0"/>
              <a:t>συσκευών.</a:t>
            </a:r>
            <a:endParaRPr lang="en-US" dirty="0"/>
          </a:p>
          <a:p>
            <a:pPr marL="68580" indent="0">
              <a:buNone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Lightweight </a:t>
            </a:r>
            <a:r>
              <a:rPr lang="el-GR" dirty="0"/>
              <a:t>κρυπτογραφία: Συνήθης επιλογή σε </a:t>
            </a:r>
            <a:r>
              <a:rPr lang="en-US" dirty="0"/>
              <a:t>IoT </a:t>
            </a:r>
            <a:r>
              <a:rPr lang="el-GR" dirty="0"/>
              <a:t>με περιορισμένους πόρους.</a:t>
            </a:r>
            <a:endParaRPr lang="en-US" dirty="0"/>
          </a:p>
          <a:p>
            <a:pPr marL="68580" indent="0">
              <a:buNone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Τύποι συμμετρικής κρυπτογράφησης: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Αλγόριθμοι Τμήματος (</a:t>
            </a:r>
            <a:r>
              <a:rPr lang="en-US" dirty="0"/>
              <a:t>Block Ciphers</a:t>
            </a:r>
            <a:r>
              <a:rPr lang="el-GR" dirty="0"/>
              <a:t>).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Αλγόριθμοι Ροής (</a:t>
            </a:r>
            <a:r>
              <a:rPr lang="en-US" dirty="0"/>
              <a:t>Stream Ciphers</a:t>
            </a:r>
            <a:r>
              <a:rPr lang="el-GR" dirty="0"/>
              <a:t>).</a:t>
            </a:r>
          </a:p>
          <a:p>
            <a:pPr marL="454914" lvl="1" indent="0">
              <a:buNone/>
            </a:pP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FDD88123-61DA-C073-575A-5BD59BF7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7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56531EC-0451-F402-FB34-6E453D1B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Αλγόριθμοι Τμήματος και Δομή </a:t>
            </a:r>
            <a:r>
              <a:rPr lang="en-US" dirty="0"/>
              <a:t>SPN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B6BB04B-410E-03A6-1134-BE46B463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Αλγόριθμοι Κρυπτογράφησης Τμήματος</a:t>
            </a:r>
            <a:r>
              <a:rPr lang="en-US" dirty="0"/>
              <a:t>:</a:t>
            </a:r>
            <a:endParaRPr lang="el-G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Επεξεργάζονται δεδομένα σε μπλοκ (64 ή 128 </a:t>
            </a:r>
            <a:r>
              <a:rPr lang="en-US" dirty="0"/>
              <a:t>bits), </a:t>
            </a:r>
            <a:r>
              <a:rPr lang="el-GR" dirty="0"/>
              <a:t>εξασφαλίζοντας υψηλή ασφάλεια.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Δημοφιλείς Αρχιτεκτονικές:</a:t>
            </a:r>
            <a:r>
              <a:rPr lang="en-US" dirty="0"/>
              <a:t> SPN, Feistel, ARX.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Πλεονεκτήματα:</a:t>
            </a:r>
            <a:r>
              <a:rPr lang="el-GR" dirty="0"/>
              <a:t> Υψηλή ασφάλεια, κατάλληλοι για μεγάλα δεδομένα.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Μειονεκτήματα:</a:t>
            </a:r>
            <a:r>
              <a:rPr lang="el-GR" dirty="0"/>
              <a:t> Αυξημένη πολυπλοκότητα και χαμηλότερη ταχύτητα σε σχέση με τους αλγόριθμους ροής.</a:t>
            </a:r>
          </a:p>
          <a:p>
            <a:pPr marL="68580" indent="0">
              <a:buNone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SPN </a:t>
            </a:r>
            <a:r>
              <a:rPr lang="el-GR" dirty="0"/>
              <a:t>Δομή: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Λειτουργία </a:t>
            </a:r>
            <a:r>
              <a:rPr lang="en-US" u="sng" dirty="0"/>
              <a:t>S-boxes:</a:t>
            </a:r>
            <a:r>
              <a:rPr lang="en-US" dirty="0"/>
              <a:t> </a:t>
            </a:r>
            <a:r>
              <a:rPr lang="el-GR" dirty="0"/>
              <a:t>Δυσκολεύουν την ανάλυση δεδομένων.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Λειτουργία </a:t>
            </a:r>
            <a:r>
              <a:rPr lang="en-US" u="sng" dirty="0"/>
              <a:t>P-boxes:</a:t>
            </a:r>
            <a:r>
              <a:rPr lang="en-US" dirty="0"/>
              <a:t> </a:t>
            </a:r>
            <a:r>
              <a:rPr lang="el-GR" dirty="0"/>
              <a:t>Κατανέμουν την πληροφορία ομοιόμορφα στο μπλοκ.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Προσθήκη Κλειδιού:</a:t>
            </a:r>
            <a:r>
              <a:rPr lang="el-GR" dirty="0"/>
              <a:t> Κάθε γύρος προσθέτει το κλειδί για επιπλέον ασφάλεια.</a:t>
            </a:r>
          </a:p>
          <a:p>
            <a:pPr marL="454914" lvl="1" indent="0">
              <a:buNone/>
            </a:pPr>
            <a:endParaRPr lang="el-GR" dirty="0"/>
          </a:p>
          <a:p>
            <a:pPr marL="454914" lvl="1" indent="0">
              <a:buNone/>
            </a:pPr>
            <a:endParaRPr lang="el-GR" dirty="0"/>
          </a:p>
          <a:p>
            <a:pPr marL="454914" lvl="1" indent="0">
              <a:buNone/>
            </a:pP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789A5B1-4D06-E604-582B-B7F53676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9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07E3F9F-1DB5-E462-CF69-7B4510FC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Αλγόριθμοι Ροής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159D614-7171-EFB4-E4F7-C3B9A8D86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Αλγόριθμοι Ροής: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Κρυπτογραφούν διαδοχικά, χρησιμοποιώντας μια </a:t>
            </a:r>
            <a:r>
              <a:rPr lang="el-GR" dirty="0" err="1"/>
              <a:t>κλειδοροή</a:t>
            </a:r>
            <a:r>
              <a:rPr lang="el-GR" dirty="0"/>
              <a:t> (</a:t>
            </a:r>
            <a:r>
              <a:rPr lang="en-US" dirty="0"/>
              <a:t>keystream</a:t>
            </a:r>
            <a:r>
              <a:rPr lang="el-GR" dirty="0"/>
              <a:t>)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Πλεονεκτήματα:</a:t>
            </a:r>
            <a:r>
              <a:rPr lang="el-GR" dirty="0"/>
              <a:t> Υψηλή ταχύτητα, χαμηλή πολυπλοκότητα, ιδανικοί για συστήματα με περιορισμένους πόρους.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u="sng" dirty="0"/>
              <a:t>Μειονεκτήματα:</a:t>
            </a:r>
            <a:r>
              <a:rPr lang="el-GR" dirty="0"/>
              <a:t> Ευπάθεια σε επαναχρησιμοποίηση της </a:t>
            </a:r>
            <a:r>
              <a:rPr lang="el-GR" dirty="0" err="1"/>
              <a:t>κλειδοροής</a:t>
            </a:r>
            <a:r>
              <a:rPr lang="el-G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Δομές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LFSR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NFSR</a:t>
            </a:r>
            <a:endParaRPr lang="el-GR" dirty="0"/>
          </a:p>
          <a:p>
            <a:pPr marL="454914" lvl="1" indent="0">
              <a:buNone/>
            </a:pP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8B3152B-CDF2-9AC3-4A14-864CF17C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3879F31-4B2E-FB43-E6CF-73A96F66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Η Οικογένεια </a:t>
            </a:r>
            <a:r>
              <a:rPr lang="en-US" dirty="0"/>
              <a:t>Hummingbird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4197712-FAEC-6E69-87D7-2460290A5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Σχεδιασμένοι για συσκευές με περιορισμένους πόρους.</a:t>
            </a:r>
          </a:p>
          <a:p>
            <a:pPr>
              <a:buFont typeface="Arial" panose="020B0604020202020204" pitchFamily="34" charset="0"/>
              <a:buChar char="•"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Υβριδική δομή.</a:t>
            </a:r>
          </a:p>
          <a:p>
            <a:pPr marL="68580" indent="0">
              <a:buNone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Ιδανικοί για περιβάλλοντα με απαιτήσεις ταχείας απόκρισης και χαμηλή κατανάλωση.</a:t>
            </a:r>
          </a:p>
          <a:p>
            <a:pPr marL="6858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Ο </a:t>
            </a:r>
            <a:r>
              <a:rPr lang="en-US" dirty="0"/>
              <a:t>HB-2 </a:t>
            </a:r>
            <a:r>
              <a:rPr lang="el-GR" dirty="0"/>
              <a:t>βελτιώνει την απόδοση και ασφάλεια του αρχικού </a:t>
            </a:r>
            <a:r>
              <a:rPr lang="en-US" dirty="0"/>
              <a:t>HB-1.</a:t>
            </a: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17F7C68-4125-2662-3BCF-663CE6619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A4CBC86-C528-999C-2634-FA86699B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Γενική Αρχιτεκτονική </a:t>
            </a:r>
            <a:r>
              <a:rPr lang="en-US" dirty="0"/>
              <a:t>HB-2</a:t>
            </a:r>
            <a:endParaRPr lang="el-G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485D01-9A66-EF93-0A4E-F6F5ADD9F2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Ο ΗΒ-2:</a:t>
                </a:r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Αναπτύχθηκε για να</a:t>
                </a:r>
                <a:r>
                  <a:rPr lang="en-US" dirty="0"/>
                  <a:t> </a:t>
                </a:r>
                <a:r>
                  <a:rPr lang="el-GR" dirty="0"/>
                  <a:t>βελτιώσει τον </a:t>
                </a:r>
                <a:r>
                  <a:rPr lang="en-US" dirty="0"/>
                  <a:t>HB-1</a:t>
                </a:r>
                <a:r>
                  <a:rPr lang="el-GR" dirty="0"/>
                  <a:t> και είναι ιδανικός για συσκευές με περιορισμένους πόρους (</a:t>
                </a:r>
                <a:r>
                  <a:rPr lang="en-US" dirty="0"/>
                  <a:t>RFID</a:t>
                </a:r>
                <a:r>
                  <a:rPr lang="el-GR" dirty="0"/>
                  <a:t>)</a:t>
                </a:r>
                <a:r>
                  <a:rPr lang="en-US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Υλοποιείται με πράξεις των 16</a:t>
                </a:r>
                <a:r>
                  <a:rPr lang="en-US" dirty="0"/>
                  <a:t> bit:</a:t>
                </a:r>
                <a:r>
                  <a:rPr lang="el-GR" dirty="0"/>
                  <a:t> </a:t>
                </a:r>
                <a:r>
                  <a:rPr lang="en-US" dirty="0"/>
                  <a:t>XOR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dirty="0"/>
                  <a:t>),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</m:e>
                    </m:d>
                  </m:oMath>
                </a14:m>
                <a:r>
                  <a:rPr lang="el-GR" dirty="0"/>
                  <a:t> και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4914" lvl="1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Μυστικό Κλειδί &amp; Εσωτερική Κατάσταση: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Μυστικό κλειδί των 128 </a:t>
                </a:r>
                <a:r>
                  <a:rPr lang="en-US" dirty="0"/>
                  <a:t>bit, </a:t>
                </a:r>
                <a:r>
                  <a:rPr lang="el-GR" dirty="0"/>
                  <a:t>χωρισμένο σε 8 </a:t>
                </a:r>
                <a:r>
                  <a:rPr lang="el-GR" dirty="0" err="1"/>
                  <a:t>υποκλειδιά</a:t>
                </a:r>
                <a:r>
                  <a:rPr lang="en-US" dirty="0"/>
                  <a:t>.</a:t>
                </a:r>
                <a:endParaRPr lang="el-GR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Εσωτερική κατάσταση των 128 </a:t>
                </a:r>
                <a:r>
                  <a:rPr lang="en-US" dirty="0"/>
                  <a:t>bit, </a:t>
                </a:r>
                <a:r>
                  <a:rPr lang="el-GR" dirty="0" err="1"/>
                  <a:t>αρχικοποιείται</a:t>
                </a:r>
                <a:r>
                  <a:rPr lang="en-US" dirty="0"/>
                  <a:t> </a:t>
                </a:r>
                <a:r>
                  <a:rPr lang="el-GR" dirty="0"/>
                  <a:t>με διανύσματα των 64 </a:t>
                </a:r>
                <a:r>
                  <a:rPr lang="en-US" dirty="0"/>
                  <a:t>bit.</a:t>
                </a:r>
              </a:p>
              <a:p>
                <a:pPr marL="454914" lvl="1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Αύξηση Ασφάλειας: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Μεγαλύτερη εσωτερική κατάσταση για περισσότερη ασφάλεια.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Κατάργηση του </a:t>
                </a:r>
                <a:r>
                  <a:rPr lang="en-US" dirty="0"/>
                  <a:t>LFSR </a:t>
                </a:r>
                <a:r>
                  <a:rPr lang="el-GR" dirty="0"/>
                  <a:t>για απλοποίηση και καλύτερη απόδοση.</a:t>
                </a:r>
              </a:p>
              <a:p>
                <a:pPr lvl="1"/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485D01-9A66-EF93-0A4E-F6F5ADD9F2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78" t="-3067" b="-1867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CAB201B-07FC-E947-44A5-C0CB32AA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F0CF0D3-967F-BE91-1A9A-1308BE82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S-boxes </a:t>
            </a:r>
            <a:r>
              <a:rPr lang="el-GR" dirty="0"/>
              <a:t>του </a:t>
            </a:r>
            <a:r>
              <a:rPr lang="en-US" dirty="0"/>
              <a:t>HB-2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8DC825A-3FBE-C606-F733-9A7100E7C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635570"/>
            <a:ext cx="4278272" cy="4572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Κεντρικός ρόλος στην υλοποίηση της σύγχυσης.</a:t>
            </a:r>
          </a:p>
          <a:p>
            <a:pPr>
              <a:buFont typeface="Arial" panose="020B0604020202020204" pitchFamily="34" charset="0"/>
              <a:buChar char="•"/>
            </a:pP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Προστασία από επιθέσεις γραμμικής και διαφορικής </a:t>
            </a:r>
            <a:r>
              <a:rPr lang="el-GR" dirty="0" err="1"/>
              <a:t>κρυπτανάλυσης</a:t>
            </a:r>
            <a:r>
              <a:rPr lang="el-G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l-GR" dirty="0"/>
          </a:p>
          <a:p>
            <a:pPr marL="68580" indent="0">
              <a:buNone/>
            </a:pPr>
            <a:endParaRPr lang="el-GR" dirty="0"/>
          </a:p>
          <a:p>
            <a:pPr marL="68580" indent="0">
              <a:buNone/>
            </a:pPr>
            <a:endParaRPr lang="el-GR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618CA2B-D4B6-75CF-58C3-F216B57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694F6EBB-3FE5-0204-7975-37E2B313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32" y="1620512"/>
            <a:ext cx="7415190" cy="15109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Γραφή 14">
                <a:extLst>
                  <a:ext uri="{FF2B5EF4-FFF2-40B4-BE49-F238E27FC236}">
                    <a16:creationId xmlns:a16="http://schemas.microsoft.com/office/drawing/2014/main" id="{7FCD333D-4425-2F55-FCEE-C32EBB34726A}"/>
                  </a:ext>
                </a:extLst>
              </p14:cNvPr>
              <p14:cNvContentPartPr/>
              <p14:nvPr/>
            </p14:nvContentPartPr>
            <p14:xfrm>
              <a:off x="4772408" y="2029693"/>
              <a:ext cx="753120" cy="360"/>
            </p14:xfrm>
          </p:contentPart>
        </mc:Choice>
        <mc:Fallback xmlns="">
          <p:pic>
            <p:nvPicPr>
              <p:cNvPr id="15" name="Γραφή 14">
                <a:extLst>
                  <a:ext uri="{FF2B5EF4-FFF2-40B4-BE49-F238E27FC236}">
                    <a16:creationId xmlns:a16="http://schemas.microsoft.com/office/drawing/2014/main" id="{7FCD333D-4425-2F55-FCEE-C32EBB3472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6288" y="2023573"/>
                <a:ext cx="76536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B61B816F-E96C-02B6-200E-262879D9F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232" y="3877585"/>
            <a:ext cx="7352389" cy="13969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Γραφή 22">
                <a:extLst>
                  <a:ext uri="{FF2B5EF4-FFF2-40B4-BE49-F238E27FC236}">
                    <a16:creationId xmlns:a16="http://schemas.microsoft.com/office/drawing/2014/main" id="{9F0A30EB-B41C-C3C6-F912-CB852F70AC2E}"/>
                  </a:ext>
                </a:extLst>
              </p14:cNvPr>
              <p14:cNvContentPartPr/>
              <p14:nvPr/>
            </p14:nvContentPartPr>
            <p14:xfrm>
              <a:off x="4759808" y="3954973"/>
              <a:ext cx="108000" cy="5040"/>
            </p14:xfrm>
          </p:contentPart>
        </mc:Choice>
        <mc:Fallback xmlns="">
          <p:pic>
            <p:nvPicPr>
              <p:cNvPr id="23" name="Γραφή 22">
                <a:extLst>
                  <a:ext uri="{FF2B5EF4-FFF2-40B4-BE49-F238E27FC236}">
                    <a16:creationId xmlns:a16="http://schemas.microsoft.com/office/drawing/2014/main" id="{9F0A30EB-B41C-C3C6-F912-CB852F70AC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53688" y="3948853"/>
                <a:ext cx="12024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Γραφή 23">
                <a:extLst>
                  <a:ext uri="{FF2B5EF4-FFF2-40B4-BE49-F238E27FC236}">
                    <a16:creationId xmlns:a16="http://schemas.microsoft.com/office/drawing/2014/main" id="{47B6BFD4-FD06-415A-3616-D79DA3D36249}"/>
                  </a:ext>
                </a:extLst>
              </p14:cNvPr>
              <p14:cNvContentPartPr/>
              <p14:nvPr/>
            </p14:nvContentPartPr>
            <p14:xfrm>
              <a:off x="4869968" y="3962173"/>
              <a:ext cx="7003440" cy="360"/>
            </p14:xfrm>
          </p:contentPart>
        </mc:Choice>
        <mc:Fallback xmlns="">
          <p:pic>
            <p:nvPicPr>
              <p:cNvPr id="24" name="Γραφή 23">
                <a:extLst>
                  <a:ext uri="{FF2B5EF4-FFF2-40B4-BE49-F238E27FC236}">
                    <a16:creationId xmlns:a16="http://schemas.microsoft.com/office/drawing/2014/main" id="{47B6BFD4-FD06-415A-3616-D79DA3D362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63848" y="3956053"/>
                <a:ext cx="701568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7833C1C-E075-9B65-E761-CF9CE7C21687}"/>
              </a:ext>
            </a:extLst>
          </p:cNvPr>
          <p:cNvSpPr txBox="1"/>
          <p:nvPr/>
        </p:nvSpPr>
        <p:spPr>
          <a:xfrm>
            <a:off x="5303912" y="3065643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Τα S-</a:t>
            </a:r>
            <a:r>
              <a:rPr lang="el-GR" dirty="0" err="1">
                <a:latin typeface="Calibri" panose="020F0502020204030204" pitchFamily="34" charset="0"/>
                <a:cs typeface="Calibri" panose="020F0502020204030204" pitchFamily="34" charset="0"/>
              </a:rPr>
              <a:t>boxes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που χρησιμοποιούνται στην κρυπτογράφηση στον  Hummingbird-2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7E5F6E-FC7C-EF98-622B-2D02ADE462EC}"/>
              </a:ext>
            </a:extLst>
          </p:cNvPr>
          <p:cNvSpPr txBox="1"/>
          <p:nvPr/>
        </p:nvSpPr>
        <p:spPr>
          <a:xfrm>
            <a:off x="4759808" y="5361923"/>
            <a:ext cx="71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Τα S-</a:t>
            </a:r>
            <a:r>
              <a:rPr lang="el-GR" dirty="0" err="1">
                <a:latin typeface="Calibri" panose="020F0502020204030204" pitchFamily="34" charset="0"/>
                <a:cs typeface="Calibri" panose="020F0502020204030204" pitchFamily="34" charset="0"/>
              </a:rPr>
              <a:t>boxes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που χρησιμοποιούνται στην αποκρυπτογράφηση στον Hummingbird-2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88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77498804-DB62-AC93-8FD4-B4450385CE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Μη γραμμική Συνάρτηση Ανάμειξης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77498804-DB62-AC93-8FD4-B4450385C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0A5A151-1366-394B-9CC5-7E53A7483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700808"/>
                <a:ext cx="4752528" cy="4968552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Σκοπός: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Ενισχύει τη διάχυση και τη σύγχυση στα δεδομένα, παρέχοντας μη γραμμικότητα και δυσκολία πρόβλεψης της εξόδου.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Υπολογισμός: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l-GR" sz="22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l-G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l-G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l-GR" sz="2200" i="0" dirty="0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≪6</m:t>
                        </m:r>
                      </m:e>
                    </m:d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⊕(</m:t>
                    </m:r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≪10)</m:t>
                    </m:r>
                  </m:oMath>
                </a14:m>
                <a:endParaRPr lang="en-US" sz="22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200" dirty="0"/>
              </a:p>
              <a:p>
                <a:pPr marL="68580" indent="0">
                  <a:buNone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0A5A151-1366-394B-9CC5-7E53A7483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700808"/>
                <a:ext cx="4752528" cy="4968552"/>
              </a:xfrm>
              <a:blipFill>
                <a:blip r:embed="rId4"/>
                <a:stretch>
                  <a:fillRect l="-641" t="-1104" r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397C14C-2F30-F2A9-1F8D-D0F9FAFC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6" name="Θέση περιεχομένου 6">
            <a:extLst>
              <a:ext uri="{FF2B5EF4-FFF2-40B4-BE49-F238E27FC236}">
                <a16:creationId xmlns:a16="http://schemas.microsoft.com/office/drawing/2014/main" id="{2FA3DFA3-3E27-2367-03DA-FD8458B722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7928" y="1700808"/>
            <a:ext cx="6277389" cy="4248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0078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D31DDC8B-B0E6-79DF-064C-6598E9FB72D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Συνάρτηση Κλειδωμένης Μετάθεσης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(1)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D31DDC8B-B0E6-79DF-064C-6598E9FB7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5C9B5C2-9E18-AEC3-D06E-751BB6FE0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652764"/>
                <a:ext cx="11161242" cy="4562376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Παρέχει την κύρια κρυπτογραφική λειτουργία του </a:t>
                </a:r>
                <a:r>
                  <a:rPr lang="en-US" dirty="0"/>
                  <a:t>Hummingbird-2</a:t>
                </a:r>
                <a:r>
                  <a:rPr lang="el-GR" dirty="0"/>
                  <a:t>.</a:t>
                </a:r>
              </a:p>
              <a:p>
                <a:pPr marL="68580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Υλοποιεί την συνάρτηση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l-GR" dirty="0"/>
                  <a:t>τέσσερις φορές με προσθήκη </a:t>
                </a:r>
                <a:r>
                  <a:rPr lang="el-GR" dirty="0" err="1"/>
                  <a:t>υποκλειδιών</a:t>
                </a:r>
                <a:r>
                  <a:rPr lang="el-GR" dirty="0"/>
                  <a:t> κάθε φορά.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Βασίζεται στην </a:t>
                </a:r>
                <a:r>
                  <a:rPr lang="en-US" dirty="0"/>
                  <a:t>SPN </a:t>
                </a:r>
                <a:r>
                  <a:rPr lang="el-GR" dirty="0"/>
                  <a:t>Δομή.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b="0" dirty="0"/>
                  <a:t>Υπολογισμός: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5C9B5C2-9E18-AEC3-D06E-751BB6FE0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652764"/>
                <a:ext cx="11161242" cy="4562376"/>
              </a:xfrm>
              <a:blipFill>
                <a:blip r:embed="rId4"/>
                <a:stretch>
                  <a:fillRect l="-382" t="-267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3642D47-4C04-9283-B3FE-AE02CDFA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61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D89D5032-C349-E1FD-0312-DE2C8536843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Συνάρτηση Κλειδωμένης Μετάθεσης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dirty="0"/>
                  <a:t>(2)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D89D5032-C349-E1FD-0312-DE2C85368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9B33528E-4A58-55EA-6A90-DC764E782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2"/>
          <a:stretch/>
        </p:blipFill>
        <p:spPr>
          <a:xfrm>
            <a:off x="1271464" y="1584766"/>
            <a:ext cx="9175163" cy="2336803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9A3274E-66D5-63A9-8489-21C534A2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3" name="Θέση περιεχομένου 6">
            <a:extLst>
              <a:ext uri="{FF2B5EF4-FFF2-40B4-BE49-F238E27FC236}">
                <a16:creationId xmlns:a16="http://schemas.microsoft.com/office/drawing/2014/main" id="{8F6B32EE-C43A-18CB-2250-DC0920D25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4"/>
          <a:stretch/>
        </p:blipFill>
        <p:spPr>
          <a:xfrm>
            <a:off x="2464083" y="3921569"/>
            <a:ext cx="7263833" cy="2483620"/>
          </a:xfrm>
          <a:prstGeom prst="rect">
            <a:avLst/>
          </a:prstGeom>
          <a:ln>
            <a:noFill/>
          </a:ln>
          <a:effectLst/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3B31BDE-D09B-4B96-9D9E-332978552C2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15377" y="2864109"/>
            <a:ext cx="1864407" cy="401902"/>
          </a:xfrm>
          <a:prstGeom prst="bentConnector3">
            <a:avLst>
              <a:gd name="adj1" fmla="val 102"/>
            </a:avLst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A3399EC-1D0B-F05F-F30B-C14B04F9EF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32008" y="3578557"/>
            <a:ext cx="1080120" cy="257884"/>
          </a:xfrm>
          <a:prstGeom prst="bentConnector3">
            <a:avLst>
              <a:gd name="adj1" fmla="val 706"/>
            </a:avLst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1566550-F215-2EB6-B150-CD9554EC0D41}"/>
              </a:ext>
            </a:extLst>
          </p:cNvPr>
          <p:cNvSpPr txBox="1"/>
          <p:nvPr/>
        </p:nvSpPr>
        <p:spPr>
          <a:xfrm>
            <a:off x="2464083" y="5404576"/>
            <a:ext cx="2880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4F2C415-45CE-79BA-4E80-66F7176C26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52116" y="4247559"/>
            <a:ext cx="7945391" cy="1341682"/>
          </a:xfrm>
          <a:prstGeom prst="bentConnector3">
            <a:avLst>
              <a:gd name="adj1" fmla="val 108598"/>
            </a:avLst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2D68A1B-BAA3-9370-D96C-0AC5E6C07D4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71864" y="3997264"/>
            <a:ext cx="5976668" cy="511856"/>
          </a:xfrm>
          <a:prstGeom prst="bentConnector3">
            <a:avLst>
              <a:gd name="adj1" fmla="val 140395"/>
            </a:avLst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55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9BF726-4B26-16E2-72EC-4C61958D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Αρχιτεκτονική και Διαδικασία Αρχικοποίησης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8C3F3C2-C1BF-AE53-2AFE-3DEE03682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426464"/>
                <a:ext cx="5704432" cy="5135516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Σκοπός: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Καθορίζει την αρχική εσωτερική κατάσταση με τη χρήση του διανύσματος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l-GR" dirty="0"/>
                  <a:t>.</a:t>
                </a:r>
              </a:p>
              <a:p>
                <a:pPr marL="454914" lvl="1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Διαδικασία: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Χρησιμοποιούνται </a:t>
                </a:r>
                <a:r>
                  <a:rPr lang="el-GR" dirty="0" err="1"/>
                  <a:t>καταχωρητές</a:t>
                </a:r>
                <a:r>
                  <a:rPr lang="el-GR" dirty="0"/>
                  <a:t> , οι οποίοι ενημερώνονται μετά από τέσσερις γύρους.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Η συνάρτηση</a:t>
                </a:r>
                <a:r>
                  <a:rPr lang="en-US" dirty="0"/>
                  <a:t> WD16 </a:t>
                </a:r>
                <a:r>
                  <a:rPr lang="el-GR" dirty="0"/>
                  <a:t>εφαρμόζεται σε κάθε γύρο με τα αντίστοιχα </a:t>
                </a:r>
                <a:r>
                  <a:rPr lang="el-GR" dirty="0" err="1"/>
                  <a:t>υποκλειδιά</a:t>
                </a:r>
                <a:r>
                  <a:rPr lang="el-GR" dirty="0"/>
                  <a:t>.</a:t>
                </a:r>
              </a:p>
              <a:p>
                <a:pPr marL="454914" lvl="1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6858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8C3F3C2-C1BF-AE53-2AFE-3DEE03682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426464"/>
                <a:ext cx="5704432" cy="5135516"/>
              </a:xfrm>
              <a:blipFill>
                <a:blip r:embed="rId3"/>
                <a:stretch>
                  <a:fillRect l="-748" t="-2375" r="-2137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EFED4C6-88FC-24DE-F509-71C86E03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pic>
        <p:nvPicPr>
          <p:cNvPr id="6" name="Θέση περιεχομένου 6">
            <a:extLst>
              <a:ext uri="{FF2B5EF4-FFF2-40B4-BE49-F238E27FC236}">
                <a16:creationId xmlns:a16="http://schemas.microsoft.com/office/drawing/2014/main" id="{F0C54BE8-8D85-63B6-B1EA-15ADF964A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048" y="1426464"/>
            <a:ext cx="4752528" cy="5135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8343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0F08289-E41A-6D90-81C0-ABE33967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Αρχιτεκτονική και Διαδικασία Κρυπτογράφησης των 16</a:t>
            </a:r>
            <a:r>
              <a:rPr lang="en-US" dirty="0"/>
              <a:t> bit</a:t>
            </a:r>
            <a:r>
              <a:rPr lang="el-GR" dirty="0"/>
              <a:t> Μπλοκ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F76C671-17D9-925D-3A20-58DA74D4A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1242" y="1927033"/>
                <a:ext cx="5670781" cy="45720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Κάθε μπλοκ των 16 </a:t>
                </a:r>
                <a:r>
                  <a:rPr lang="en-US" dirty="0"/>
                  <a:t>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l-G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/>
                  <a:t>κρυπτογραφείται σε τέσσερις γύρους με τη συνάρτηση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l-GR" dirty="0"/>
                  <a:t>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Υπολογισμός των γύρων: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16(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l-GR" dirty="0"/>
              </a:p>
              <a:p>
                <a:pPr marL="454914" lvl="1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F76C671-17D9-925D-3A20-58DA74D4A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242" y="1927033"/>
                <a:ext cx="5670781" cy="4572000"/>
              </a:xfrm>
              <a:blipFill>
                <a:blip r:embed="rId3"/>
                <a:stretch>
                  <a:fillRect l="-323" t="-2667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90BAF99-3B40-7C54-06E6-B5B8222D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pic>
        <p:nvPicPr>
          <p:cNvPr id="8" name="Θέση περιεχομένου 6">
            <a:extLst>
              <a:ext uri="{FF2B5EF4-FFF2-40B4-BE49-F238E27FC236}">
                <a16:creationId xmlns:a16="http://schemas.microsoft.com/office/drawing/2014/main" id="{D5546C92-5A91-16D6-08F7-DA39C7359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6040" y="1563954"/>
            <a:ext cx="5256844" cy="4785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0776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03E4ACD-E179-6B72-6727-3392948B3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Stream</a:t>
            </a:r>
            <a:r>
              <a:rPr lang="el-GR" dirty="0"/>
              <a:t> </a:t>
            </a:r>
            <a:r>
              <a:rPr lang="el-GR" dirty="0" err="1"/>
              <a:t>Cipher</a:t>
            </a:r>
            <a:r>
              <a:rPr lang="el-GR" dirty="0"/>
              <a:t> Κωδικοποίηση Πεδίων Μικρού Μήκους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7C2FF5E-6F36-764F-B8D4-4B7DC7BA8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Σχεδιάστηκε για μηνύματα μικρότερα από 16 </a:t>
                </a:r>
                <a:r>
                  <a:rPr lang="en-US" dirty="0"/>
                  <a:t>bits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≤15</m:t>
                    </m:r>
                  </m:oMath>
                </a14:m>
                <a:r>
                  <a:rPr lang="en-US" dirty="0"/>
                  <a:t>)</a:t>
                </a:r>
                <a:r>
                  <a:rPr lang="el-GR" dirty="0"/>
                  <a:t> χωρίς αύξηση του μεγέθους.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Διαδικασία: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Κρυπτογράφηση με τη μηδενική λέξη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</a:t>
                </a:r>
                <a:r>
                  <a:rPr lang="el-GR" dirty="0"/>
                  <a:t>των 16 </a:t>
                </a:r>
                <a:r>
                  <a:rPr lang="en-US" dirty="0"/>
                  <a:t>bit.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Το τελικό μήνυμα υπολογίζεται ως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Παρέχεται επιπλέον ασφάλεια με ενημέρωση της εσωτερικής κατάστασης.</a:t>
                </a:r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7C2FF5E-6F36-764F-B8D4-4B7DC7BA8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89" t="-16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A42D2B9-7D61-1EA2-B961-5F517875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95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668BAC-94D6-6AD7-6485-23C99B48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Μονάδα Υπολογισμού </a:t>
            </a:r>
            <a:r>
              <a:rPr lang="en-US" dirty="0"/>
              <a:t>MAC</a:t>
            </a:r>
            <a:endParaRPr lang="el-G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342EB8A-419C-2777-1F66-ACAEABD354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Παρέχει ακεραιότητα και αυθεντικότητα στα μηνύματα του </a:t>
                </a:r>
                <a:r>
                  <a:rPr lang="en-US" dirty="0"/>
                  <a:t>HB-2</a:t>
                </a:r>
                <a:r>
                  <a:rPr lang="el-GR" dirty="0"/>
                  <a:t>.</a:t>
                </a: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Διαδικασία Υπολογισμού: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Τρεις κλήσεις της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l-GR" dirty="0"/>
                  <a:t> για την ενημέρωση της εσωτερικής κατάστασης: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dirty="0"/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l-GR" dirty="0"/>
              </a:p>
              <a:p>
                <a:pPr lvl="2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68580" indent="0">
                  <a:buNone/>
                </a:pPr>
                <a:endParaRPr lang="el-GR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b="0" dirty="0"/>
                  <a:t>Παραγωγή </a:t>
                </a:r>
                <a:r>
                  <a:rPr lang="en-US" b="0" dirty="0"/>
                  <a:t>MAC: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IV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l-GR" dirty="0"/>
                  <a:t>με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=2,3,…,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l-GR" dirty="0"/>
              </a:p>
              <a:p>
                <a:pPr marL="68580" indent="0">
                  <a:buNone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342EB8A-419C-2777-1F66-ACAEABD354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78" t="-3067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D5519B9-1553-0BA1-E7D8-AC5F7ADD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1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3BA56945-5E54-307C-DCBE-6D556E3AB5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Αντίστροφες Λειτουργίες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(1)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3BA56945-5E54-307C-DCBE-6D556E3AB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882924D-E2C9-8144-E209-97DB91E99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706598"/>
                <a:ext cx="10569845" cy="481874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Η αντίστροφη της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l-GR" dirty="0"/>
                  <a:t>υπολογίζεται ως: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≫6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≫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𝑜𝑢𝑡𝑝𝑢𝑡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454914" lvl="1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Αντιστροφή της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l-GR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882924D-E2C9-8144-E209-97DB91E99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706598"/>
                <a:ext cx="10569845" cy="4818746"/>
              </a:xfrm>
              <a:blipFill>
                <a:blip r:embed="rId4"/>
                <a:stretch>
                  <a:fillRect l="-404" t="-1519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0EF2B56-1B89-D9ED-8BF8-2183AE00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8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6F68C030-77DD-C4CC-0DF2-629FD2A250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Αντίστροφες Λειτουργίες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(2)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6F68C030-77DD-C4CC-0DF2-629FD2A250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Θέση περιεχομένου 6" descr="Εικόνα που περιέχει διάγραμμα, γραμμή, τεχνικό σχέδιο, Σχέδιο&#10;&#10;Περιγραφή που δημιουργήθηκε αυτόματα">
            <a:extLst>
              <a:ext uri="{FF2B5EF4-FFF2-40B4-BE49-F238E27FC236}">
                <a16:creationId xmlns:a16="http://schemas.microsoft.com/office/drawing/2014/main" id="{6618D860-E1AC-7EE7-2FA9-DF745C136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47" y="1826899"/>
            <a:ext cx="10707594" cy="4486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FFE309A-9941-0AF5-7A0A-3DDC56DA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23D9FB83-AC13-A9BF-C6A0-1618EA66DB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Αντίστροφες Λειτουργίες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(3)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23D9FB83-AC13-A9BF-C6A0-1618EA66D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1133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6E47EBE-A50D-5661-E5A3-6F5403D3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pic>
        <p:nvPicPr>
          <p:cNvPr id="11" name="Θέση περιεχομένου 10">
            <a:extLst>
              <a:ext uri="{FF2B5EF4-FFF2-40B4-BE49-F238E27FC236}">
                <a16:creationId xmlns:a16="http://schemas.microsoft.com/office/drawing/2014/main" id="{9128C8F9-C3FC-329A-9E58-8935EBB69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793" b="1"/>
          <a:stretch/>
        </p:blipFill>
        <p:spPr>
          <a:xfrm>
            <a:off x="749347" y="3278602"/>
            <a:ext cx="10707594" cy="1453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670979F0-5716-1251-8BCD-0776D0EB7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505" y="4125585"/>
            <a:ext cx="540142" cy="2104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2BD9BE-3C2F-14D6-5C48-DB5D4DC75FC8}"/>
              </a:ext>
            </a:extLst>
          </p:cNvPr>
          <p:cNvSpPr txBox="1"/>
          <p:nvPr/>
        </p:nvSpPr>
        <p:spPr>
          <a:xfrm>
            <a:off x="10344472" y="3521912"/>
            <a:ext cx="971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i="1" dirty="0"/>
              <a:t>d</a:t>
            </a:r>
            <a:endParaRPr lang="el-GR" sz="800" b="1" i="1" dirty="0"/>
          </a:p>
        </p:txBody>
      </p:sp>
      <p:pic>
        <p:nvPicPr>
          <p:cNvPr id="23" name="Εικόνα 22">
            <a:extLst>
              <a:ext uri="{FF2B5EF4-FFF2-40B4-BE49-F238E27FC236}">
                <a16:creationId xmlns:a16="http://schemas.microsoft.com/office/drawing/2014/main" id="{D0BF4D0E-4174-2911-750D-990762996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0016285" y="3734572"/>
            <a:ext cx="288032" cy="108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D01D4-C507-3CED-D6EA-E20F742D9EE0}"/>
              </a:ext>
            </a:extLst>
          </p:cNvPr>
          <p:cNvSpPr txBox="1"/>
          <p:nvPr/>
        </p:nvSpPr>
        <p:spPr>
          <a:xfrm>
            <a:off x="1522272" y="3591811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56B8D-D57A-E4F9-0A21-0C918C1A872B}"/>
              </a:ext>
            </a:extLst>
          </p:cNvPr>
          <p:cNvSpPr txBox="1"/>
          <p:nvPr/>
        </p:nvSpPr>
        <p:spPr>
          <a:xfrm>
            <a:off x="1277941" y="4235741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50105-93BF-EE19-4AE4-CC13A72FF90F}"/>
              </a:ext>
            </a:extLst>
          </p:cNvPr>
          <p:cNvSpPr txBox="1"/>
          <p:nvPr/>
        </p:nvSpPr>
        <p:spPr>
          <a:xfrm>
            <a:off x="2538219" y="4243771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2492C-B7B3-642F-613E-F44D0CE1E43F}"/>
              </a:ext>
            </a:extLst>
          </p:cNvPr>
          <p:cNvSpPr txBox="1"/>
          <p:nvPr/>
        </p:nvSpPr>
        <p:spPr>
          <a:xfrm>
            <a:off x="3648943" y="4243771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CAFCB-E4A3-9CAB-7BEF-680407BD650C}"/>
              </a:ext>
            </a:extLst>
          </p:cNvPr>
          <p:cNvSpPr txBox="1"/>
          <p:nvPr/>
        </p:nvSpPr>
        <p:spPr>
          <a:xfrm>
            <a:off x="4889372" y="4253139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B5E42-A638-D1BA-12E0-FF12A678CE02}"/>
              </a:ext>
            </a:extLst>
          </p:cNvPr>
          <p:cNvSpPr txBox="1"/>
          <p:nvPr/>
        </p:nvSpPr>
        <p:spPr>
          <a:xfrm>
            <a:off x="7179553" y="4262507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F8C58-A6FB-94C7-3880-BA436D79E2A3}"/>
              </a:ext>
            </a:extLst>
          </p:cNvPr>
          <p:cNvSpPr txBox="1"/>
          <p:nvPr/>
        </p:nvSpPr>
        <p:spPr>
          <a:xfrm>
            <a:off x="8288171" y="4271875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C058B1-40B4-E92F-2710-292551D3AD85}"/>
              </a:ext>
            </a:extLst>
          </p:cNvPr>
          <p:cNvSpPr txBox="1"/>
          <p:nvPr/>
        </p:nvSpPr>
        <p:spPr>
          <a:xfrm>
            <a:off x="9484356" y="4262507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5AD25-4EA7-84B4-BBE5-3E403950AA32}"/>
              </a:ext>
            </a:extLst>
          </p:cNvPr>
          <p:cNvSpPr txBox="1"/>
          <p:nvPr/>
        </p:nvSpPr>
        <p:spPr>
          <a:xfrm>
            <a:off x="10296090" y="3635150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B2672F-8957-7381-3E83-3042D27BC5D1}"/>
              </a:ext>
            </a:extLst>
          </p:cNvPr>
          <p:cNvSpPr txBox="1"/>
          <p:nvPr/>
        </p:nvSpPr>
        <p:spPr>
          <a:xfrm>
            <a:off x="1199456" y="4008092"/>
            <a:ext cx="322816" cy="2160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DF84F-B72E-881A-24DA-513E2F9D6B27}"/>
              </a:ext>
            </a:extLst>
          </p:cNvPr>
          <p:cNvSpPr txBox="1"/>
          <p:nvPr/>
        </p:nvSpPr>
        <p:spPr>
          <a:xfrm>
            <a:off x="1319456" y="4081852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6BB48-BD67-E111-A403-73A5629CB8B9}"/>
              </a:ext>
            </a:extLst>
          </p:cNvPr>
          <p:cNvSpPr txBox="1"/>
          <p:nvPr/>
        </p:nvSpPr>
        <p:spPr>
          <a:xfrm>
            <a:off x="954088" y="3981302"/>
            <a:ext cx="322816" cy="2160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212A0F-F71A-96CB-55A6-2229D2E47E64}"/>
              </a:ext>
            </a:extLst>
          </p:cNvPr>
          <p:cNvSpPr txBox="1"/>
          <p:nvPr/>
        </p:nvSpPr>
        <p:spPr>
          <a:xfrm>
            <a:off x="791132" y="3981302"/>
            <a:ext cx="322816" cy="2160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173E9-2126-0090-9A82-BD4064BD93DF}"/>
              </a:ext>
            </a:extLst>
          </p:cNvPr>
          <p:cNvSpPr txBox="1"/>
          <p:nvPr/>
        </p:nvSpPr>
        <p:spPr>
          <a:xfrm>
            <a:off x="714366" y="3927964"/>
            <a:ext cx="121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WD(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x,a,b,c,d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111A81-32C9-EE97-F550-670E7DDF153C}"/>
              </a:ext>
            </a:extLst>
          </p:cNvPr>
          <p:cNvSpPr txBox="1"/>
          <p:nvPr/>
        </p:nvSpPr>
        <p:spPr>
          <a:xfrm>
            <a:off x="1559496" y="3485871"/>
            <a:ext cx="288032" cy="91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9DDFB2-3F42-A06B-08BE-E7CEDF705986}"/>
              </a:ext>
            </a:extLst>
          </p:cNvPr>
          <p:cNvSpPr txBox="1"/>
          <p:nvPr/>
        </p:nvSpPr>
        <p:spPr>
          <a:xfrm>
            <a:off x="925715" y="3453902"/>
            <a:ext cx="288032" cy="917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A7AE05-5986-5A85-C025-E7C2EFA809DA}"/>
              </a:ext>
            </a:extLst>
          </p:cNvPr>
          <p:cNvSpPr txBox="1"/>
          <p:nvPr/>
        </p:nvSpPr>
        <p:spPr>
          <a:xfrm>
            <a:off x="858935" y="3625279"/>
            <a:ext cx="5667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655287-B721-87F3-553B-FAF0200918B2}"/>
              </a:ext>
            </a:extLst>
          </p:cNvPr>
          <p:cNvCxnSpPr>
            <a:cxnSpLocks/>
          </p:cNvCxnSpPr>
          <p:nvPr/>
        </p:nvCxnSpPr>
        <p:spPr>
          <a:xfrm>
            <a:off x="1199456" y="4235741"/>
            <a:ext cx="612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C0F61E2-51AF-1E00-B6C9-01B04DF74F33}"/>
              </a:ext>
            </a:extLst>
          </p:cNvPr>
          <p:cNvSpPr txBox="1"/>
          <p:nvPr/>
        </p:nvSpPr>
        <p:spPr>
          <a:xfrm>
            <a:off x="1576092" y="3423735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9FF155-13FC-EC4A-B874-4F927A060FF9}"/>
              </a:ext>
            </a:extLst>
          </p:cNvPr>
          <p:cNvSpPr txBox="1"/>
          <p:nvPr/>
        </p:nvSpPr>
        <p:spPr>
          <a:xfrm>
            <a:off x="2555693" y="4010424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A6F5ED2-37F6-78F9-89BE-B39A4FF8FE5B}"/>
              </a:ext>
            </a:extLst>
          </p:cNvPr>
          <p:cNvCxnSpPr>
            <a:cxnSpLocks/>
          </p:cNvCxnSpPr>
          <p:nvPr/>
        </p:nvCxnSpPr>
        <p:spPr>
          <a:xfrm>
            <a:off x="2388725" y="4243771"/>
            <a:ext cx="682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E8CA49E-91FA-ACC4-D23C-B820C4F778FE}"/>
              </a:ext>
            </a:extLst>
          </p:cNvPr>
          <p:cNvSpPr txBox="1"/>
          <p:nvPr/>
        </p:nvSpPr>
        <p:spPr>
          <a:xfrm>
            <a:off x="2609383" y="4081852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CAA0AD-CC97-8FB2-0CF5-3DBEB7478615}"/>
              </a:ext>
            </a:extLst>
          </p:cNvPr>
          <p:cNvSpPr txBox="1"/>
          <p:nvPr/>
        </p:nvSpPr>
        <p:spPr>
          <a:xfrm>
            <a:off x="3749858" y="4005516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F1D128-CC4E-EB5B-C16E-A3B372075247}"/>
              </a:ext>
            </a:extLst>
          </p:cNvPr>
          <p:cNvSpPr txBox="1"/>
          <p:nvPr/>
        </p:nvSpPr>
        <p:spPr>
          <a:xfrm>
            <a:off x="3090978" y="3599623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0D88F0-6FFF-8587-F31A-1D5D32F416B7}"/>
              </a:ext>
            </a:extLst>
          </p:cNvPr>
          <p:cNvSpPr txBox="1"/>
          <p:nvPr/>
        </p:nvSpPr>
        <p:spPr>
          <a:xfrm>
            <a:off x="3351239" y="3603167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EBDF01-FD1F-2EF8-5C1C-8C3B84FA33F2}"/>
              </a:ext>
            </a:extLst>
          </p:cNvPr>
          <p:cNvSpPr txBox="1"/>
          <p:nvPr/>
        </p:nvSpPr>
        <p:spPr>
          <a:xfrm>
            <a:off x="3359696" y="3591811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D62309-C9FE-0824-BBF0-456A793FF887}"/>
              </a:ext>
            </a:extLst>
          </p:cNvPr>
          <p:cNvSpPr txBox="1"/>
          <p:nvPr/>
        </p:nvSpPr>
        <p:spPr>
          <a:xfrm>
            <a:off x="3359696" y="3625279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DDF931-746F-690E-B8AD-D7E3B63C2969}"/>
              </a:ext>
            </a:extLst>
          </p:cNvPr>
          <p:cNvSpPr txBox="1"/>
          <p:nvPr/>
        </p:nvSpPr>
        <p:spPr>
          <a:xfrm>
            <a:off x="3214549" y="3598889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F9A020-988B-3CA7-8242-62F13AEF3AC7}"/>
              </a:ext>
            </a:extLst>
          </p:cNvPr>
          <p:cNvCxnSpPr>
            <a:cxnSpLocks/>
          </p:cNvCxnSpPr>
          <p:nvPr/>
        </p:nvCxnSpPr>
        <p:spPr>
          <a:xfrm>
            <a:off x="3648943" y="4241109"/>
            <a:ext cx="502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7687D32-0F1E-E2B4-6FFD-F0229A4F865D}"/>
              </a:ext>
            </a:extLst>
          </p:cNvPr>
          <p:cNvSpPr txBox="1"/>
          <p:nvPr/>
        </p:nvSpPr>
        <p:spPr>
          <a:xfrm>
            <a:off x="3736425" y="4081852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CE586-8DB7-69BB-0D08-E96DA292060F}"/>
              </a:ext>
            </a:extLst>
          </p:cNvPr>
          <p:cNvSpPr txBox="1"/>
          <p:nvPr/>
        </p:nvSpPr>
        <p:spPr>
          <a:xfrm>
            <a:off x="4921908" y="4005516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30D6E0-FD8F-9927-F63E-4EAF048F60A7}"/>
              </a:ext>
            </a:extLst>
          </p:cNvPr>
          <p:cNvCxnSpPr>
            <a:cxnSpLocks/>
          </p:cNvCxnSpPr>
          <p:nvPr/>
        </p:nvCxnSpPr>
        <p:spPr>
          <a:xfrm>
            <a:off x="4687458" y="4241109"/>
            <a:ext cx="674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0A412B3-7615-AD0B-9242-5BC12A09C285}"/>
              </a:ext>
            </a:extLst>
          </p:cNvPr>
          <p:cNvSpPr txBox="1"/>
          <p:nvPr/>
        </p:nvSpPr>
        <p:spPr>
          <a:xfrm>
            <a:off x="4908475" y="4081852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55ADC4-1972-3894-D93D-F4AA0E614DAF}"/>
              </a:ext>
            </a:extLst>
          </p:cNvPr>
          <p:cNvSpPr txBox="1"/>
          <p:nvPr/>
        </p:nvSpPr>
        <p:spPr>
          <a:xfrm>
            <a:off x="5393580" y="3591811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E37A4A-E25D-C813-4ECA-D41A4612F791}"/>
              </a:ext>
            </a:extLst>
          </p:cNvPr>
          <p:cNvSpPr txBox="1"/>
          <p:nvPr/>
        </p:nvSpPr>
        <p:spPr>
          <a:xfrm>
            <a:off x="5663495" y="3591811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D9DDD-77E6-5432-0CD1-AA8D942AACC1}"/>
              </a:ext>
            </a:extLst>
          </p:cNvPr>
          <p:cNvSpPr txBox="1"/>
          <p:nvPr/>
        </p:nvSpPr>
        <p:spPr>
          <a:xfrm>
            <a:off x="5690273" y="3645023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328858-AF23-4081-A00F-55F5A934D48E}"/>
              </a:ext>
            </a:extLst>
          </p:cNvPr>
          <p:cNvSpPr txBox="1"/>
          <p:nvPr/>
        </p:nvSpPr>
        <p:spPr>
          <a:xfrm>
            <a:off x="5525956" y="3609239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687813-0CEF-66B3-E51E-7F143DC1239F}"/>
              </a:ext>
            </a:extLst>
          </p:cNvPr>
          <p:cNvSpPr txBox="1"/>
          <p:nvPr/>
        </p:nvSpPr>
        <p:spPr>
          <a:xfrm>
            <a:off x="6044978" y="4005516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433DD0-0675-0EC3-81DA-D6674847FF74}"/>
              </a:ext>
            </a:extLst>
          </p:cNvPr>
          <p:cNvSpPr txBox="1"/>
          <p:nvPr/>
        </p:nvSpPr>
        <p:spPr>
          <a:xfrm>
            <a:off x="6049888" y="4253139"/>
            <a:ext cx="37861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70D646-7C14-5D71-F334-9C0F8F7A0B36}"/>
              </a:ext>
            </a:extLst>
          </p:cNvPr>
          <p:cNvSpPr txBox="1"/>
          <p:nvPr/>
        </p:nvSpPr>
        <p:spPr>
          <a:xfrm>
            <a:off x="6068992" y="4081852"/>
            <a:ext cx="17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700789-EC94-F175-6494-640F245D4604}"/>
              </a:ext>
            </a:extLst>
          </p:cNvPr>
          <p:cNvSpPr txBox="1"/>
          <p:nvPr/>
        </p:nvSpPr>
        <p:spPr>
          <a:xfrm>
            <a:off x="7210070" y="4005516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BF8E4A-FB2F-0F97-A2B4-6FFA1C3A75C8}"/>
              </a:ext>
            </a:extLst>
          </p:cNvPr>
          <p:cNvSpPr txBox="1"/>
          <p:nvPr/>
        </p:nvSpPr>
        <p:spPr>
          <a:xfrm>
            <a:off x="7234084" y="4081852"/>
            <a:ext cx="17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77195D-D9EB-CE76-5A06-49E34775904C}"/>
              </a:ext>
            </a:extLst>
          </p:cNvPr>
          <p:cNvSpPr txBox="1"/>
          <p:nvPr/>
        </p:nvSpPr>
        <p:spPr>
          <a:xfrm>
            <a:off x="7981749" y="3599623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B2C787-DA3C-9640-D8D4-C43EA2951481}"/>
              </a:ext>
            </a:extLst>
          </p:cNvPr>
          <p:cNvSpPr txBox="1"/>
          <p:nvPr/>
        </p:nvSpPr>
        <p:spPr>
          <a:xfrm>
            <a:off x="7988642" y="3625279"/>
            <a:ext cx="4549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E5D661-4EB0-68C9-8C2C-95711EB6C008}"/>
              </a:ext>
            </a:extLst>
          </p:cNvPr>
          <p:cNvSpPr txBox="1"/>
          <p:nvPr/>
        </p:nvSpPr>
        <p:spPr>
          <a:xfrm>
            <a:off x="7724157" y="3591811"/>
            <a:ext cx="235539" cy="3407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58FE4E-7DC9-3426-A28C-802B818FE9FF}"/>
              </a:ext>
            </a:extLst>
          </p:cNvPr>
          <p:cNvSpPr txBox="1"/>
          <p:nvPr/>
        </p:nvSpPr>
        <p:spPr>
          <a:xfrm>
            <a:off x="7848610" y="3632571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2BA9A62-5615-F6C7-D262-8652509FD6D8}"/>
              </a:ext>
            </a:extLst>
          </p:cNvPr>
          <p:cNvSpPr txBox="1"/>
          <p:nvPr/>
        </p:nvSpPr>
        <p:spPr>
          <a:xfrm>
            <a:off x="8351570" y="4010884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CCF0F3-3DD4-E6E5-7DEA-79F7FCFBDAF3}"/>
              </a:ext>
            </a:extLst>
          </p:cNvPr>
          <p:cNvSpPr txBox="1"/>
          <p:nvPr/>
        </p:nvSpPr>
        <p:spPr>
          <a:xfrm>
            <a:off x="8375584" y="4087220"/>
            <a:ext cx="17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C310EF-ED76-4956-F689-7DF55BF09CFF}"/>
              </a:ext>
            </a:extLst>
          </p:cNvPr>
          <p:cNvSpPr txBox="1"/>
          <p:nvPr/>
        </p:nvSpPr>
        <p:spPr>
          <a:xfrm>
            <a:off x="9534794" y="4010884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7E7F06-D50B-3DE7-7EAF-687F36FEE35A}"/>
              </a:ext>
            </a:extLst>
          </p:cNvPr>
          <p:cNvSpPr txBox="1"/>
          <p:nvPr/>
        </p:nvSpPr>
        <p:spPr>
          <a:xfrm>
            <a:off x="9558808" y="4087220"/>
            <a:ext cx="17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B7F6AD-44A1-FF50-7641-42EF97BC86B1}"/>
              </a:ext>
            </a:extLst>
          </p:cNvPr>
          <p:cNvSpPr txBox="1"/>
          <p:nvPr/>
        </p:nvSpPr>
        <p:spPr>
          <a:xfrm>
            <a:off x="10000390" y="3620187"/>
            <a:ext cx="224178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765A8A-6D66-8C48-2668-F1ADBF95ED0B}"/>
              </a:ext>
            </a:extLst>
          </p:cNvPr>
          <p:cNvSpPr txBox="1"/>
          <p:nvPr/>
        </p:nvSpPr>
        <p:spPr>
          <a:xfrm>
            <a:off x="10323861" y="3446859"/>
            <a:ext cx="345867" cy="19816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8DA8A1-9A60-F73D-AD1D-026952642502}"/>
              </a:ext>
            </a:extLst>
          </p:cNvPr>
          <p:cNvSpPr txBox="1"/>
          <p:nvPr/>
        </p:nvSpPr>
        <p:spPr>
          <a:xfrm>
            <a:off x="10160301" y="3625279"/>
            <a:ext cx="209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81B955-2DB3-38F3-EBA3-A05B356A7E21}"/>
              </a:ext>
            </a:extLst>
          </p:cNvPr>
          <p:cNvSpPr txBox="1"/>
          <p:nvPr/>
        </p:nvSpPr>
        <p:spPr>
          <a:xfrm>
            <a:off x="10741572" y="4011173"/>
            <a:ext cx="264352" cy="22531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79506F-DA65-F4EF-00B6-727EB03114AA}"/>
              </a:ext>
            </a:extLst>
          </p:cNvPr>
          <p:cNvSpPr txBox="1"/>
          <p:nvPr/>
        </p:nvSpPr>
        <p:spPr>
          <a:xfrm>
            <a:off x="10775063" y="4092129"/>
            <a:ext cx="17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C8303E6-D3F6-3BAE-9F5D-8DCF24AA10E2}"/>
              </a:ext>
            </a:extLst>
          </p:cNvPr>
          <p:cNvCxnSpPr>
            <a:cxnSpLocks/>
          </p:cNvCxnSpPr>
          <p:nvPr/>
        </p:nvCxnSpPr>
        <p:spPr>
          <a:xfrm>
            <a:off x="5951984" y="4241109"/>
            <a:ext cx="476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FDAF223-63B1-95E9-CB8B-47465FD2F94F}"/>
              </a:ext>
            </a:extLst>
          </p:cNvPr>
          <p:cNvCxnSpPr>
            <a:cxnSpLocks/>
          </p:cNvCxnSpPr>
          <p:nvPr/>
        </p:nvCxnSpPr>
        <p:spPr>
          <a:xfrm>
            <a:off x="7032104" y="4241109"/>
            <a:ext cx="674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BC9C5E8-E553-0E0B-A33A-A0AD9DB84A19}"/>
              </a:ext>
            </a:extLst>
          </p:cNvPr>
          <p:cNvCxnSpPr>
            <a:cxnSpLocks/>
          </p:cNvCxnSpPr>
          <p:nvPr/>
        </p:nvCxnSpPr>
        <p:spPr>
          <a:xfrm>
            <a:off x="8256240" y="4241109"/>
            <a:ext cx="504056" cy="7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5FDCE69-381C-5218-4D93-89EBFB54CF8C}"/>
              </a:ext>
            </a:extLst>
          </p:cNvPr>
          <p:cNvCxnSpPr>
            <a:cxnSpLocks/>
          </p:cNvCxnSpPr>
          <p:nvPr/>
        </p:nvCxnSpPr>
        <p:spPr>
          <a:xfrm>
            <a:off x="9336360" y="4252573"/>
            <a:ext cx="652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15C90AF-2FED-1067-7A7D-EF16A6FEC645}"/>
              </a:ext>
            </a:extLst>
          </p:cNvPr>
          <p:cNvSpPr txBox="1"/>
          <p:nvPr/>
        </p:nvSpPr>
        <p:spPr>
          <a:xfrm>
            <a:off x="10613877" y="4317620"/>
            <a:ext cx="828776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82986-57C9-3B39-DBC4-B67E364F4613}"/>
              </a:ext>
            </a:extLst>
          </p:cNvPr>
          <p:cNvSpPr txBox="1"/>
          <p:nvPr/>
        </p:nvSpPr>
        <p:spPr>
          <a:xfrm>
            <a:off x="10104701" y="4458111"/>
            <a:ext cx="1545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WD16</a:t>
            </a:r>
            <a:r>
              <a:rPr lang="en-US" sz="1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x,a,b,c,d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97" name="Εικόνα 13">
            <a:extLst>
              <a:ext uri="{FF2B5EF4-FFF2-40B4-BE49-F238E27FC236}">
                <a16:creationId xmlns:a16="http://schemas.microsoft.com/office/drawing/2014/main" id="{CB785C6A-3A55-CFC3-20B5-3B4B5A553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794" y="4143505"/>
            <a:ext cx="531040" cy="210493"/>
          </a:xfrm>
          <a:prstGeom prst="rect">
            <a:avLst/>
          </a:prstGeom>
        </p:spPr>
      </p:pic>
      <p:pic>
        <p:nvPicPr>
          <p:cNvPr id="98" name="Εικόνα 13">
            <a:extLst>
              <a:ext uri="{FF2B5EF4-FFF2-40B4-BE49-F238E27FC236}">
                <a16:creationId xmlns:a16="http://schemas.microsoft.com/office/drawing/2014/main" id="{4E8F0905-A1BD-0DE8-90DE-01695992A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425" y="4141878"/>
            <a:ext cx="499497" cy="210493"/>
          </a:xfrm>
          <a:prstGeom prst="rect">
            <a:avLst/>
          </a:prstGeom>
        </p:spPr>
      </p:pic>
      <p:pic>
        <p:nvPicPr>
          <p:cNvPr id="99" name="Εικόνα 13">
            <a:extLst>
              <a:ext uri="{FF2B5EF4-FFF2-40B4-BE49-F238E27FC236}">
                <a16:creationId xmlns:a16="http://schemas.microsoft.com/office/drawing/2014/main" id="{6F512D80-9750-25EA-692C-8FD2882F6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698" y="4143504"/>
            <a:ext cx="548262" cy="2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79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F14456C-8B80-4A9B-E7A9-877E00E1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Αρχιτεκτονική και Διαδικασία Αποκρυπτογράφησης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DE51285-7139-8000-ACB5-08F3C416B1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426464"/>
                <a:ext cx="5760640" cy="4990212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sz="3300" dirty="0"/>
                  <a:t>Αποκρυπτογράφηση:</a:t>
                </a:r>
              </a:p>
              <a:p>
                <a:pPr marL="969264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l-GR" sz="3300" dirty="0"/>
              </a:p>
              <a:p>
                <a:pPr marL="1225296" lvl="2" indent="-514350">
                  <a:buFont typeface="+mj-lt"/>
                  <a:buAutoNum type="arabicPeriod"/>
                </a:pPr>
                <a:endParaRPr lang="el-GR" sz="3300" b="0" dirty="0"/>
              </a:p>
              <a:p>
                <a:pPr marL="969264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sz="3300" b="0" i="1" smtClean="0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300" dirty="0"/>
              </a:p>
              <a:p>
                <a:pPr marL="1225296" lvl="2" indent="-514350">
                  <a:buFont typeface="+mj-lt"/>
                  <a:buAutoNum type="arabicPeriod"/>
                </a:pPr>
                <a:endParaRPr lang="en-US" sz="3300" dirty="0"/>
              </a:p>
              <a:p>
                <a:pPr marL="969264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l-GR" sz="3300" i="1">
                        <a:latin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l-GR" sz="3300" dirty="0"/>
                  <a:t>)</a:t>
                </a:r>
              </a:p>
              <a:p>
                <a:pPr marL="969264" lvl="1" indent="-514350">
                  <a:buFont typeface="+mj-lt"/>
                  <a:buAutoNum type="arabicPeriod"/>
                </a:pPr>
                <a:endParaRPr lang="el-GR" sz="3300" dirty="0"/>
              </a:p>
              <a:p>
                <a:pPr marL="969264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l-GR" sz="3300" dirty="0"/>
                  <a:t>)</a:t>
                </a:r>
              </a:p>
              <a:p>
                <a:pPr marL="454914" lvl="1" indent="0">
                  <a:buNone/>
                </a:pPr>
                <a:endParaRPr lang="el-GR" sz="33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sz="3300" b="0" dirty="0"/>
                  <a:t>Η εσωτερική κατάσταση ενημερώνεται:</a:t>
                </a:r>
                <a:endParaRPr lang="en-US" sz="3300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endParaRPr lang="en-US" sz="3300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300" dirty="0"/>
                  <a:t> </a:t>
                </a:r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sz="3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endParaRPr lang="en-US" sz="33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⊟</m:t>
                    </m:r>
                    <m:sSubSup>
                      <m:sSubSup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endParaRPr lang="en-US" sz="3300" b="0" dirty="0"/>
              </a:p>
              <a:p>
                <a:pPr marL="454914" lvl="1" indent="0">
                  <a:buNone/>
                </a:pPr>
                <a:endParaRPr lang="en-US" sz="3300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l-GR" sz="3300" dirty="0"/>
              </a:p>
              <a:p>
                <a:pPr marL="6858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BDE51285-7139-8000-ACB5-08F3C416B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426464"/>
                <a:ext cx="5760640" cy="4990212"/>
              </a:xfrm>
              <a:blipFill>
                <a:blip r:embed="rId3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81FB806-1341-24CA-CD3C-9F5AC4B4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pic>
        <p:nvPicPr>
          <p:cNvPr id="6" name="Θέση περιεχομένου 6">
            <a:extLst>
              <a:ext uri="{FF2B5EF4-FFF2-40B4-BE49-F238E27FC236}">
                <a16:creationId xmlns:a16="http://schemas.microsoft.com/office/drawing/2014/main" id="{C9E69011-CE9C-0E1C-4662-6DC31747F0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048" y="1686951"/>
            <a:ext cx="5054352" cy="4560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1338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F871D86-7170-A061-C984-61C2660B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Προτεινόμενος Σχεδιασμός </a:t>
            </a:r>
            <a:r>
              <a:rPr lang="en-US" dirty="0"/>
              <a:t>HB-2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866F56F-0BD4-A3FD-CB82-2CD3A2464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783560"/>
            <a:ext cx="11017224" cy="4572000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l-GR" dirty="0"/>
              <a:t>Σχεδιάστηκε επεξεργαστής </a:t>
            </a:r>
            <a:r>
              <a:rPr lang="en-US" dirty="0"/>
              <a:t>HB-2 </a:t>
            </a:r>
            <a:r>
              <a:rPr lang="el-GR" dirty="0"/>
              <a:t>για 128 </a:t>
            </a:r>
            <a:r>
              <a:rPr lang="en-US" dirty="0"/>
              <a:t>bit </a:t>
            </a:r>
            <a:r>
              <a:rPr lang="el-GR" dirty="0"/>
              <a:t>μπλοκ, με βασικές λειτουργίες: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Αρχικοποίηση (</a:t>
            </a:r>
            <a:r>
              <a:rPr lang="en-US" dirty="0"/>
              <a:t>Initialization)</a:t>
            </a:r>
            <a:r>
              <a:rPr lang="el-G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Κρυπτογράφηση (</a:t>
            </a:r>
            <a:r>
              <a:rPr lang="en-US" dirty="0"/>
              <a:t>Encryption)</a:t>
            </a:r>
            <a:r>
              <a:rPr lang="el-G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Λειτουργία </a:t>
            </a:r>
            <a:r>
              <a:rPr lang="en-US" dirty="0"/>
              <a:t>stream cipher </a:t>
            </a:r>
            <a:r>
              <a:rPr lang="el-GR" dirty="0"/>
              <a:t>με ενσωματωμένη ακεραιότητα (</a:t>
            </a:r>
            <a:r>
              <a:rPr lang="en-US" dirty="0"/>
              <a:t>Stream cipher mode with integrated integrity)</a:t>
            </a:r>
            <a:r>
              <a:rPr lang="el-G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 err="1"/>
              <a:t>Αυθεντικοποίηση</a:t>
            </a:r>
            <a:r>
              <a:rPr lang="el-GR" dirty="0"/>
              <a:t> (</a:t>
            </a:r>
            <a:r>
              <a:rPr lang="en-US" dirty="0"/>
              <a:t>Authentication)</a:t>
            </a:r>
            <a:r>
              <a:rPr lang="el-GR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Έλεγχος </a:t>
            </a:r>
            <a:r>
              <a:rPr lang="en-US" dirty="0"/>
              <a:t>MAC</a:t>
            </a:r>
            <a:r>
              <a:rPr lang="el-GR" dirty="0"/>
              <a:t> (MAC </a:t>
            </a:r>
            <a:r>
              <a:rPr lang="el-GR" dirty="0" err="1"/>
              <a:t>verification</a:t>
            </a:r>
            <a:r>
              <a:rPr lang="el-GR" dirty="0"/>
              <a:t> </a:t>
            </a:r>
            <a:r>
              <a:rPr lang="el-GR" dirty="0" err="1"/>
              <a:t>unit</a:t>
            </a:r>
            <a:r>
              <a:rPr lang="el-G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l-GR" dirty="0"/>
          </a:p>
          <a:p>
            <a:pPr marL="68580" indent="0">
              <a:buNone/>
            </a:pPr>
            <a:r>
              <a:rPr lang="el-GR" dirty="0"/>
              <a:t>Για την ομαλή λειτουργία και απόδοση: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Μηχανή πεπερασμένων καταστάσεων (</a:t>
            </a:r>
            <a:r>
              <a:rPr lang="en-US" dirty="0"/>
              <a:t>FSM</a:t>
            </a:r>
            <a:r>
              <a:rPr lang="el-GR" dirty="0"/>
              <a:t>).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Μονάδα διαχείρισης σημάτων ελέγχου.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BA281DFB-DF13-3A60-7E64-C7CFD96A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56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3E7FA5-A62E-A936-12C4-D37CF897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Μηχανή πεπερασμένων καταστάσεων</a:t>
            </a:r>
          </a:p>
        </p:txBody>
      </p:sp>
      <p:pic>
        <p:nvPicPr>
          <p:cNvPr id="7" name="Θέση περιεχομένου 6" descr="Εικόνα που περιέχει κείμενο, διάγραμμα, σκίτσο/σχέδιο, γραμμή&#10;&#10;Περιγραφή που δημιουργήθηκε αυτόματα">
            <a:extLst>
              <a:ext uri="{FF2B5EF4-FFF2-40B4-BE49-F238E27FC236}">
                <a16:creationId xmlns:a16="http://schemas.microsoft.com/office/drawing/2014/main" id="{E815E69E-168A-D199-D2D6-39F488806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66" y="1784350"/>
            <a:ext cx="10110756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D3013AA-9F5C-9FCE-B7FD-BB3FF989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93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0181F4-0E48-ABEC-FF1F-C6A642B1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Βελτιστοποίηση στο Κόστος Υλικού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488431E2-1108-739E-C1E4-1D3C43DB9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Αρχικά απαιτούνταν 2</a:t>
                </a:r>
                <a:r>
                  <a:rPr lang="en-US" dirty="0"/>
                  <a:t>1</a:t>
                </a:r>
                <a:r>
                  <a:rPr lang="el-GR" dirty="0"/>
                  <a:t> μπλοκ κρυπτογράφησης.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Προτεινόμενη αρχιτεκτονική: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1 μπλοκ για ανανέωση εσωτερικής κατάστασης</a:t>
                </a:r>
                <a:r>
                  <a:rPr lang="en-US" dirty="0"/>
                  <a:t> (</a:t>
                </a:r>
                <a:r>
                  <a:rPr lang="el-GR" dirty="0" err="1"/>
                  <a:t>αυθεντικοποίηση</a:t>
                </a:r>
                <a:r>
                  <a:rPr lang="en-US" dirty="0"/>
                  <a:t>)</a:t>
                </a:r>
                <a:r>
                  <a:rPr lang="el-GR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2 μπλοκ για περαιτέρω ανανέωση (</a:t>
                </a:r>
                <a:r>
                  <a:rPr lang="el-GR" dirty="0" err="1"/>
                  <a:t>αυθεντικοποίηση</a:t>
                </a:r>
                <a:r>
                  <a:rPr lang="el-GR" dirty="0"/>
                  <a:t> και </a:t>
                </a:r>
                <a:r>
                  <a:rPr lang="en-US" dirty="0"/>
                  <a:t>stream cipher</a:t>
                </a:r>
                <a:r>
                  <a:rPr lang="el-GR" dirty="0"/>
                  <a:t>).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8 μπλοκ για κρυπτογράφηση και δημιουργία των </a:t>
                </a:r>
                <a:r>
                  <a:rPr lang="en-US" dirty="0"/>
                  <a:t>tags</a:t>
                </a:r>
                <a:r>
                  <a:rPr lang="el-GR" dirty="0"/>
                  <a:t> </a:t>
                </a:r>
                <a:r>
                  <a:rPr lang="el-GR" dirty="0" err="1"/>
                  <a:t>αυθεντικοποίησης</a:t>
                </a:r>
                <a:r>
                  <a:rPr lang="el-GR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Μείωση επιφάνειας κρυπτογραφικών μπλοκ κατά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48%</m:t>
                    </m:r>
                  </m:oMath>
                </a14:m>
                <a:r>
                  <a:rPr lang="el-GR" dirty="0"/>
                  <a:t>.</a:t>
                </a:r>
                <a:r>
                  <a:rPr lang="en-US" dirty="0"/>
                  <a:t> </a:t>
                </a: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488431E2-1108-739E-C1E4-1D3C43DB9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89" t="-16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DF30AEF-C886-3818-FDF9-8307323B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73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FF49725-1817-E102-1AA0-3466913A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Βελτιστοποίηση στη Συχνότητα Ρολογιού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EF1E5EB-90B5-DA0F-1DD2-425E929EBC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Στόχος 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Αύξηση της συχνότητας για βελτίωση της απόδοσης.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dirty="0"/>
                  <a:t>Διατήρηση όσο το δυνατόν χαμηλότερη επιφάνεια και κατανάλωση ενέργειας.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Κύριες Τεχνικές Βελτιστοποίησης: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Pipe-lining </a:t>
                </a:r>
                <a:r>
                  <a:rPr lang="el-GR" dirty="0"/>
                  <a:t>για μείωση καθυστερήσεων και αύξηση της συχνότητας:</a:t>
                </a:r>
                <a:endParaRPr lang="en-US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l-GR" dirty="0"/>
                  <a:t>Εφαρμογή σε μονάδες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dirty="0"/>
                  <a:t> </a:t>
                </a:r>
                <a:r>
                  <a:rPr lang="el-GR" dirty="0"/>
                  <a:t>και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l-GR" dirty="0"/>
                  <a:t>Αποθήκευση </a:t>
                </a:r>
                <a:r>
                  <a:rPr lang="en-US" dirty="0"/>
                  <a:t>S-boxes </a:t>
                </a:r>
                <a:r>
                  <a:rPr lang="el-GR" dirty="0"/>
                  <a:t>σε </a:t>
                </a:r>
                <a:r>
                  <a:rPr lang="el-GR" dirty="0" err="1"/>
                  <a:t>καταχωρητές</a:t>
                </a:r>
                <a:r>
                  <a:rPr lang="el-GR" dirty="0"/>
                  <a:t> για ταχύτερη επεξεργασία. </a:t>
                </a:r>
                <a:endParaRPr lang="en-US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l-GR" dirty="0"/>
                  <a:t>Διαχωρισμός πράξεων σε στάδια για αύξηση απόδοσης.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Από </a:t>
                </a: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34,5 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MHz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→243,902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MHz</m:t>
                    </m:r>
                  </m:oMath>
                </a14:m>
                <a:r>
                  <a:rPr lang="en-US" dirty="0"/>
                  <a:t>, </a:t>
                </a:r>
                <a:r>
                  <a:rPr lang="el-GR" dirty="0"/>
                  <a:t>αύξηση κατά </a:t>
                </a: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607%</m:t>
                    </m:r>
                  </m:oMath>
                </a14:m>
                <a:r>
                  <a:rPr lang="el-GR" dirty="0"/>
                  <a:t>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EF1E5EB-90B5-DA0F-1DD2-425E929EBC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78" t="-2267" b="-24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41B956C-9E08-5A3E-F1A8-9AA95C46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29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75BB75FB-6C23-25BA-6C11-0CF14706120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Βελτιστοποίηση στις Μονάδες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(1)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75BB75FB-6C23-25BA-6C11-0CF147061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2667" b="-120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22C13C5-1AE2-BCD8-84F6-A1B84C500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00" y="1608064"/>
                <a:ext cx="5616624" cy="457200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Προστέθηκε στάδιο </a:t>
                </a:r>
                <a:r>
                  <a:rPr lang="en-US" dirty="0"/>
                  <a:t>pipe-line </a:t>
                </a:r>
                <a:r>
                  <a:rPr lang="el-GR" dirty="0"/>
                  <a:t>για αποθήκευση των εξόδων των </a:t>
                </a:r>
                <a:r>
                  <a:rPr lang="en-US" dirty="0"/>
                  <a:t>S-boxes </a:t>
                </a:r>
                <a:r>
                  <a:rPr lang="el-GR" dirty="0"/>
                  <a:t>σε </a:t>
                </a:r>
                <a:r>
                  <a:rPr lang="el-GR" dirty="0" err="1"/>
                  <a:t>καταχωρητές</a:t>
                </a:r>
                <a:r>
                  <a:rPr lang="el-GR" dirty="0"/>
                  <a:t> τεσσάρων </a:t>
                </a:r>
                <a:r>
                  <a:rPr lang="en-US" dirty="0"/>
                  <a:t>bit</a:t>
                </a:r>
                <a:r>
                  <a:rPr lang="el-GR" dirty="0"/>
                  <a:t>.</a:t>
                </a:r>
                <a:endParaRPr lang="en-US" dirty="0"/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Για τη μονάδα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προστέθηκαν 4 στάδια </a:t>
                </a:r>
                <a:r>
                  <a:rPr lang="en-US" dirty="0"/>
                  <a:t>pipe-line.</a:t>
                </a: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22C13C5-1AE2-BCD8-84F6-A1B84C500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0" y="1608064"/>
                <a:ext cx="5616624" cy="4572000"/>
              </a:xfrm>
              <a:blipFill>
                <a:blip r:embed="rId4"/>
                <a:stretch>
                  <a:fillRect l="-76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02AC9BA-7753-23AB-B19A-2C5E416B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pic>
        <p:nvPicPr>
          <p:cNvPr id="6" name="Θέση περιεχομένου 6">
            <a:extLst>
              <a:ext uri="{FF2B5EF4-FFF2-40B4-BE49-F238E27FC236}">
                <a16:creationId xmlns:a16="http://schemas.microsoft.com/office/drawing/2014/main" id="{F2AE6B81-4D15-7C93-70EA-483B51C6FF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" t="2794" r="1699" b="3157"/>
          <a:stretch/>
        </p:blipFill>
        <p:spPr>
          <a:xfrm>
            <a:off x="5951984" y="1608064"/>
            <a:ext cx="5917176" cy="4643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3589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BFCB55F7-FEEB-C624-977A-F0E64849E1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Βελτιστοποίηση στις Μονάδες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(</a:t>
                </a:r>
                <a:r>
                  <a:rPr lang="en-US" dirty="0"/>
                  <a:t>2</a:t>
                </a:r>
                <a:r>
                  <a:rPr lang="el-GR" dirty="0"/>
                  <a:t>)</a:t>
                </a:r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BFCB55F7-FEEB-C624-977A-F0E64849E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2667" b="-120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Θέση περιεχομένου 6" descr="Εικόνα που περιέχει διάγραμμα, γραμμή, παράλληλα, τεχνικό σχέδιο&#10;&#10;Περιγραφή που δημιουργήθηκε αυτόματα">
            <a:extLst>
              <a:ext uri="{FF2B5EF4-FFF2-40B4-BE49-F238E27FC236}">
                <a16:creationId xmlns:a16="http://schemas.microsoft.com/office/drawing/2014/main" id="{878E38B2-4DF9-DD8B-3ECE-8D671DE34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44" y="1622899"/>
            <a:ext cx="10958512" cy="4294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4D76E05-422D-19D3-91A9-B32E7DA4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47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C2F9B199-62E9-77DA-E574-68FF5F4C91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Βελτιστοποίηση στη Μονάδα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C2F9B199-62E9-77DA-E574-68FF5F4C9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2667" b="-120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7C8CD47-D74F-3CB1-DA9B-3B0BBC55B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8580" indent="0">
                  <a:buNone/>
                </a:pPr>
                <a:r>
                  <a:rPr lang="el-GR" sz="2400" dirty="0"/>
                  <a:t>Λόγω του ότι είναι πιο πολύπλοκη από την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l-GR" sz="2400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l-GR" sz="2400" dirty="0"/>
                  <a:t> εφαρμόστηκε τεχνική </a:t>
                </a:r>
                <a:r>
                  <a:rPr lang="en-US" sz="2400" dirty="0"/>
                  <a:t>pipe-line 4 </a:t>
                </a:r>
                <a:r>
                  <a:rPr lang="el-GR" sz="2400" dirty="0"/>
                  <a:t>σταδίων</a:t>
                </a:r>
                <a:r>
                  <a:rPr lang="en-US" sz="2400" dirty="0"/>
                  <a:t>.</a:t>
                </a:r>
                <a:endParaRPr lang="el-GR" sz="24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7C8CD47-D74F-3CB1-DA9B-3B0BBC55B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222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BE309EF-AA8F-67EA-B736-D2383E0D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1133D4-EFA1-BD97-C187-85D14E809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456" y="2564904"/>
            <a:ext cx="8323598" cy="2009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7B274E-EEEC-7D02-2088-7B453AB5A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624" y="4621730"/>
            <a:ext cx="7102455" cy="1661304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332DE7-3388-D216-8238-AA98401D68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15247" y="3280593"/>
            <a:ext cx="1565026" cy="749412"/>
          </a:xfrm>
          <a:prstGeom prst="bentConnector3">
            <a:avLst>
              <a:gd name="adj1" fmla="val -63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CED0E91-EC99-596E-F663-C796DB194A0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83632" y="4437812"/>
            <a:ext cx="7488834" cy="359338"/>
          </a:xfrm>
          <a:prstGeom prst="bentConnector3">
            <a:avLst>
              <a:gd name="adj1" fmla="val 1023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0184BB3-4555-94A9-C327-66BF76B70D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32587" y="3520582"/>
            <a:ext cx="1365889" cy="635618"/>
          </a:xfrm>
          <a:prstGeom prst="bentConnector3">
            <a:avLst>
              <a:gd name="adj1" fmla="val -488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0793B60-9C82-E732-B0F0-8AE6A87083A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83632" y="4521334"/>
            <a:ext cx="7349706" cy="504789"/>
          </a:xfrm>
          <a:prstGeom prst="bentConnector3">
            <a:avLst>
              <a:gd name="adj1" fmla="val 103359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4B67DAA-8CA9-EC64-0BC0-26748C77E6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42355" y="4037810"/>
            <a:ext cx="862239" cy="382362"/>
          </a:xfrm>
          <a:prstGeom prst="bentConnector3">
            <a:avLst>
              <a:gd name="adj1" fmla="val -374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83FBEB34-5FF6-6C98-0922-5CD17637EC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55640" y="4645000"/>
            <a:ext cx="7009020" cy="944240"/>
          </a:xfrm>
          <a:prstGeom prst="bentConnector3">
            <a:avLst>
              <a:gd name="adj1" fmla="val 111425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0584137-F24C-E614-B426-41D9ED3FC02E}"/>
              </a:ext>
            </a:extLst>
          </p:cNvPr>
          <p:cNvSpPr txBox="1"/>
          <p:nvPr/>
        </p:nvSpPr>
        <p:spPr>
          <a:xfrm>
            <a:off x="7608168" y="4223298"/>
            <a:ext cx="1940218" cy="1743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D12A2C91-7F1C-2449-BD30-05AA3B8D7B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5979" y="4756653"/>
            <a:ext cx="1693870" cy="910772"/>
          </a:xfrm>
          <a:prstGeom prst="bentConnector3">
            <a:avLst>
              <a:gd name="adj1" fmla="val 99934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4C19122-44EB-E7C9-614D-E1609F6EC6BF}"/>
              </a:ext>
            </a:extLst>
          </p:cNvPr>
          <p:cNvCxnSpPr>
            <a:cxnSpLocks/>
          </p:cNvCxnSpPr>
          <p:nvPr/>
        </p:nvCxnSpPr>
        <p:spPr>
          <a:xfrm>
            <a:off x="2711624" y="4797151"/>
            <a:ext cx="72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8DB3D27-B344-CB68-02B5-D75C5BB7E24E}"/>
              </a:ext>
            </a:extLst>
          </p:cNvPr>
          <p:cNvCxnSpPr>
            <a:cxnSpLocks/>
          </p:cNvCxnSpPr>
          <p:nvPr/>
        </p:nvCxnSpPr>
        <p:spPr>
          <a:xfrm>
            <a:off x="2711624" y="5026124"/>
            <a:ext cx="72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F2468F-0D62-7166-99D0-0CF01EA622E3}"/>
              </a:ext>
            </a:extLst>
          </p:cNvPr>
          <p:cNvCxnSpPr>
            <a:cxnSpLocks/>
          </p:cNvCxnSpPr>
          <p:nvPr/>
        </p:nvCxnSpPr>
        <p:spPr>
          <a:xfrm>
            <a:off x="2783632" y="5589241"/>
            <a:ext cx="72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711BACB-956E-0FE0-E3D1-5B28ADFBE9FD}"/>
              </a:ext>
            </a:extLst>
          </p:cNvPr>
          <p:cNvCxnSpPr>
            <a:cxnSpLocks/>
          </p:cNvCxnSpPr>
          <p:nvPr/>
        </p:nvCxnSpPr>
        <p:spPr>
          <a:xfrm>
            <a:off x="2686292" y="6058974"/>
            <a:ext cx="72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42844E7-8BDE-82C2-E5C8-38108F5AC8F6}"/>
              </a:ext>
            </a:extLst>
          </p:cNvPr>
          <p:cNvSpPr txBox="1"/>
          <p:nvPr/>
        </p:nvSpPr>
        <p:spPr>
          <a:xfrm>
            <a:off x="2224110" y="5411341"/>
            <a:ext cx="550732" cy="1743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2900FE-F835-ADC7-963D-BABC4B3A7210}"/>
              </a:ext>
            </a:extLst>
          </p:cNvPr>
          <p:cNvSpPr txBox="1"/>
          <p:nvPr/>
        </p:nvSpPr>
        <p:spPr>
          <a:xfrm>
            <a:off x="1708024" y="3998114"/>
            <a:ext cx="279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6F3814-65D2-80A9-4875-913348F3FB2A}"/>
              </a:ext>
            </a:extLst>
          </p:cNvPr>
          <p:cNvSpPr txBox="1"/>
          <p:nvPr/>
        </p:nvSpPr>
        <p:spPr>
          <a:xfrm>
            <a:off x="9663158" y="4653346"/>
            <a:ext cx="550732" cy="1743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B03326E3-1F4C-8FDC-DDE6-63F692004C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94" y="2500594"/>
            <a:ext cx="10662206" cy="409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25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8C3C4B54-6B13-6430-312E-9FE3DD962F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l-GR" dirty="0"/>
                  <a:t>Βελτιστοποίηση στις Διαδρομές των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</a:t>
                </a:r>
                <a:r>
                  <a:rPr lang="el-GR" dirty="0"/>
                  <a:t>Εσωτερικών Καταστάσεων</a:t>
                </a:r>
                <a:r>
                  <a:rPr lang="en-US" dirty="0"/>
                  <a:t> </a:t>
                </a:r>
                <a:endParaRPr lang="el-GR" dirty="0"/>
              </a:p>
            </p:txBody>
          </p:sp>
        </mc:Choice>
        <mc:Fallback xmlns="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8C3C4B54-6B13-6430-312E-9FE3DD962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58" t="-13333" b="-7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4C2C334-DA85-AF26-7D0F-EA4834FD8F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1" y="1865314"/>
                <a:ext cx="10857409" cy="457200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Τεσσάρων σταδίων </a:t>
                </a:r>
                <a:r>
                  <a:rPr lang="en-US" dirty="0"/>
                  <a:t>pipe-line</a:t>
                </a:r>
                <a:r>
                  <a:rPr lang="el-GR" dirty="0"/>
                  <a:t>:</a:t>
                </a:r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Πράξεις προσθέσεων</a:t>
                </a:r>
                <a:r>
                  <a:rPr lang="en-US" dirty="0"/>
                  <a:t>.</a:t>
                </a:r>
                <a:endParaRPr lang="el-GR" dirty="0"/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Υπολογισμός πράξεων </a:t>
                </a:r>
                <a:r>
                  <a:rPr lang="en-US" dirty="0"/>
                  <a:t>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Κυκλικές μετατοπίσεις</a:t>
                </a:r>
                <a:r>
                  <a:rPr lang="en-US" dirty="0"/>
                  <a:t>.</a:t>
                </a:r>
                <a:endParaRPr lang="el-GR" dirty="0"/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Πράξεις </a:t>
                </a:r>
                <a:r>
                  <a:rPr lang="en-US" dirty="0"/>
                  <a:t>XOR.</a:t>
                </a:r>
                <a:endParaRPr lang="el-GR" dirty="0"/>
              </a:p>
              <a:p>
                <a:pPr marL="454914" lvl="1" indent="0">
                  <a:buNone/>
                </a:pPr>
                <a:endParaRPr lang="el-G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dirty="0"/>
                  <a:t>Δύο σταδίων</a:t>
                </a:r>
                <a:r>
                  <a:rPr lang="en-US" dirty="0"/>
                  <a:t> pipe-line</a:t>
                </a:r>
                <a:r>
                  <a:rPr lang="el-GR" dirty="0"/>
                  <a:t>:</a:t>
                </a:r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Υπολογισμός προσθέσεων</a:t>
                </a:r>
                <a:r>
                  <a:rPr lang="en-US" dirty="0"/>
                  <a:t>.</a:t>
                </a:r>
                <a:endParaRPr lang="el-GR" dirty="0"/>
              </a:p>
              <a:p>
                <a:pPr marL="969264" lvl="1" indent="-514350">
                  <a:buFont typeface="+mj-lt"/>
                  <a:buAutoNum type="arabicPeriod"/>
                </a:pPr>
                <a:r>
                  <a:rPr lang="el-GR" dirty="0"/>
                  <a:t>Υπολογισμός πράξεων </a:t>
                </a:r>
                <a:r>
                  <a:rPr lang="en-US" dirty="0"/>
                  <a:t>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  <a:endParaRPr lang="el-GR" dirty="0"/>
              </a:p>
              <a:p>
                <a:pPr marL="454914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4C2C334-DA85-AF26-7D0F-EA4834FD8F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1" y="1865314"/>
                <a:ext cx="10857409" cy="4572000"/>
              </a:xfrm>
              <a:blipFill>
                <a:blip r:embed="rId4"/>
                <a:stretch>
                  <a:fillRect l="-393" t="-1600" b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3DEEF10-01F4-4F93-871B-DB824005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68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751E-15CB-10EE-5366-74121B72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Αρχιτεκτονική </a:t>
            </a:r>
            <a:r>
              <a:rPr lang="en-US" dirty="0"/>
              <a:t>Pipe-lining </a:t>
            </a:r>
            <a:r>
              <a:rPr lang="el-GR" dirty="0"/>
              <a:t>Τεσσάρων Σταδίων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B480D-DE23-BCFF-62E2-4158D329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64118F-5E83-48D2-3D2D-1811CEEA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98" y="1988840"/>
            <a:ext cx="10740004" cy="38613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6184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6B40-26CE-69E0-B7C4-DC0AF8F7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Αρχιτεκτονική </a:t>
            </a:r>
            <a:r>
              <a:rPr lang="en-US" dirty="0"/>
              <a:t>Pipe-lining </a:t>
            </a:r>
            <a:r>
              <a:rPr lang="el-GR" dirty="0"/>
              <a:t>Δύο Σταδίων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FD044-79B2-8901-EEA2-F60812596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A9B8-19D3-7C5A-F416-E058DC33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6D856-079B-BC76-1465-9B1F59458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165" y="1988840"/>
            <a:ext cx="7511669" cy="411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41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5A20D9-D72D-3547-AD4B-7E0E6988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Σύγκριση </a:t>
            </a:r>
            <a:r>
              <a:rPr lang="en-US" dirty="0"/>
              <a:t>HB-2 </a:t>
            </a:r>
            <a:r>
              <a:rPr lang="el-GR" dirty="0"/>
              <a:t>με Άλλους Κρυπτογραφικούς Αλγόριθμους</a:t>
            </a:r>
            <a:r>
              <a:rPr lang="en-US" dirty="0"/>
              <a:t>(1)</a:t>
            </a:r>
            <a:endParaRPr lang="en-GB" dirty="0"/>
          </a:p>
        </p:txBody>
      </p:sp>
      <p:pic>
        <p:nvPicPr>
          <p:cNvPr id="3" name="Θέση περιεχομένου 2" descr="Εικόνα που περιέχει κείμενο, γραμμή, παράλληλα, διάγραμμα&#10;&#10;Περιγραφή που δημιουργήθηκε αυτόματα">
            <a:extLst>
              <a:ext uri="{FF2B5EF4-FFF2-40B4-BE49-F238E27FC236}">
                <a16:creationId xmlns:a16="http://schemas.microsoft.com/office/drawing/2014/main" id="{5AB7D0B7-5321-4CC0-1217-D0D144BC2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21" y="2132856"/>
            <a:ext cx="5522975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FADD1-E5A0-AF42-85A8-EA62CBF8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32DA5574-F1F0-414C-D0FE-13093BF23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0016" y="1986844"/>
            <a:ext cx="5615804" cy="481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6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65AC908-5B43-8B2D-489F-FA0FFDE7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Σύγκριση </a:t>
            </a:r>
            <a:r>
              <a:rPr lang="en-US" dirty="0"/>
              <a:t>HB-2 </a:t>
            </a:r>
            <a:r>
              <a:rPr lang="el-GR" dirty="0"/>
              <a:t>με Άλλους Κρυπτογραφικούς Αλγόριθμους</a:t>
            </a:r>
            <a:r>
              <a:rPr lang="en-US" dirty="0"/>
              <a:t> (2)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63CF200-1EA1-47B7-9FFF-1062E0CE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 HB-2 </a:t>
            </a:r>
            <a:r>
              <a:rPr lang="el-GR" sz="2400" dirty="0"/>
              <a:t>με </a:t>
            </a:r>
            <a:r>
              <a:rPr lang="en-US" sz="2400" dirty="0"/>
              <a:t>pipe-line </a:t>
            </a:r>
            <a:r>
              <a:rPr lang="el-GR" sz="2400" dirty="0"/>
              <a:t>αρχιτεκτονική αξιοποιεί τους πόρους αποδοτικά, υπερβαίνοντας άλλους αλγόριθμους.</a:t>
            </a:r>
          </a:p>
          <a:p>
            <a:pPr marL="68580" indent="0">
              <a:buNone/>
            </a:pPr>
            <a:endParaRPr lang="el-G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2400" dirty="0"/>
              <a:t>Εξασφαλίζει ικανοποιητικό </a:t>
            </a:r>
            <a:r>
              <a:rPr lang="en-US" sz="2400" dirty="0"/>
              <a:t>throughput </a:t>
            </a:r>
            <a:r>
              <a:rPr lang="el-GR" sz="2400" dirty="0"/>
              <a:t>στην κρυπτογράφηση, ξεπερνώντας αρκετούς συγκρίσιμους αλγόριθμους.</a:t>
            </a:r>
          </a:p>
          <a:p>
            <a:pPr marL="68580" indent="0">
              <a:buNone/>
            </a:pPr>
            <a:endParaRPr lang="el-G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2400" dirty="0"/>
              <a:t>Παρά την πολυπλοκότητα και την ανάγκη για περισσότερους πόρους, διατηρεί υψηλή απόδοση σε εφαρμογές περιορισμένων πόρων.</a:t>
            </a:r>
          </a:p>
          <a:p>
            <a:pPr marL="68580" indent="0">
              <a:buNone/>
            </a:pPr>
            <a:endParaRPr lang="el-G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2400" dirty="0"/>
              <a:t>Ο </a:t>
            </a:r>
            <a:r>
              <a:rPr lang="en-US" sz="2400" dirty="0"/>
              <a:t>HB-2 </a:t>
            </a:r>
            <a:r>
              <a:rPr lang="el-GR" sz="2400" dirty="0"/>
              <a:t>είναι κατάλληλος για συστήματα </a:t>
            </a:r>
            <a:r>
              <a:rPr lang="en-US" sz="2400" dirty="0"/>
              <a:t>IoT </a:t>
            </a:r>
            <a:r>
              <a:rPr lang="el-GR" sz="2400" dirty="0"/>
              <a:t>και </a:t>
            </a:r>
            <a:r>
              <a:rPr lang="en-US" sz="2400" dirty="0"/>
              <a:t>RFID, </a:t>
            </a:r>
            <a:r>
              <a:rPr lang="el-GR" sz="2400" dirty="0"/>
              <a:t>προσφέροντας ικανοποιητικό </a:t>
            </a:r>
            <a:r>
              <a:rPr lang="en-US" sz="2400" dirty="0"/>
              <a:t>throughput.</a:t>
            </a:r>
            <a:endParaRPr lang="el-GR" sz="2400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A1ABD1E-5770-F094-6655-7002D17E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08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F84BFD3-DC29-DDCC-2C33-23CBADBF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Σύγκριση </a:t>
            </a:r>
            <a:r>
              <a:rPr lang="en-US" dirty="0"/>
              <a:t>HB-2 </a:t>
            </a:r>
            <a:r>
              <a:rPr lang="el-GR" dirty="0"/>
              <a:t>με Άλλες Υλοποιήσεις της Οικογένειας </a:t>
            </a:r>
            <a:br>
              <a:rPr lang="el-GR" dirty="0"/>
            </a:br>
            <a:r>
              <a:rPr lang="el-GR" dirty="0"/>
              <a:t>ΗΒ</a:t>
            </a:r>
          </a:p>
        </p:txBody>
      </p:sp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AD23168C-351C-9166-1853-B06A4C5E5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1984" y="1464115"/>
            <a:ext cx="5832647" cy="4982975"/>
          </a:xfrm>
        </p:spPr>
      </p:pic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FB3A08F-B96B-BFBF-8D4D-18027DCD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7AA941-96E8-327B-4F12-6B4D9E08960E}"/>
              </a:ext>
            </a:extLst>
          </p:cNvPr>
          <p:cNvSpPr txBox="1"/>
          <p:nvPr/>
        </p:nvSpPr>
        <p:spPr>
          <a:xfrm>
            <a:off x="839416" y="1700566"/>
            <a:ext cx="51913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 pipe-line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αρχιτεκτονική του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HB-2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προσφέρει υψηλότερη συχνότητα και αυξημένη απόδοση κρυπτογράφησης σε σύγκριση με τον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HB-1.</a:t>
            </a:r>
          </a:p>
          <a:p>
            <a:endParaRPr lang="el-G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Ο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HB-2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βελτιώνει τις αδυναμίες ασφαλείας του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HB-1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, διατηρώντας ισορροπία μεταξύ ασφάλειας και απόδοσης, ιδανική για περιορισμένους πόρους.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Η αυξημένη απαίτηση σε πόρους του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HB-2 </a:t>
            </a: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αντισταθμίζεται από την υψηλότερη απόδοση και την αποτελεσματική κρυπτογραφία.</a:t>
            </a:r>
          </a:p>
        </p:txBody>
      </p:sp>
    </p:spTree>
    <p:extLst>
      <p:ext uri="{BB962C8B-B14F-4D97-AF65-F5344CB8AC3E}">
        <p14:creationId xmlns:p14="http://schemas.microsoft.com/office/powerpoint/2010/main" val="1644017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AF55D50-81F5-2093-6B9D-1FB09E28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Συμπεράσματα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C9668334-493F-06E9-7D1C-8E7D9A09F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l-GR" dirty="0"/>
                  <a:t>Μείωση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48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l-GR" dirty="0"/>
                  <a:t> της επιφάνειας των μπλοκ κρυπτογράφησης.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l-GR" dirty="0"/>
                  <a:t>Αύξηση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607%</m:t>
                    </m:r>
                  </m:oMath>
                </a14:m>
                <a:r>
                  <a:rPr lang="el-GR" dirty="0"/>
                  <a:t> στη συχνότητα ρολογιού και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132%</m:t>
                    </m:r>
                  </m:oMath>
                </a14:m>
                <a:r>
                  <a:rPr lang="el-GR" dirty="0"/>
                  <a:t> στην απόδοση των 16 </a:t>
                </a:r>
                <a:r>
                  <a:rPr lang="en-US" dirty="0"/>
                  <a:t>bit </a:t>
                </a:r>
                <a:r>
                  <a:rPr lang="el-GR" dirty="0"/>
                  <a:t>μπλοκ.</a:t>
                </a:r>
              </a:p>
              <a:p>
                <a:pPr marL="68580" indent="0">
                  <a:buNone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l-GR" dirty="0"/>
                  <a:t>Ικανοποιητικό </a:t>
                </a:r>
                <a:r>
                  <a:rPr lang="en-US" dirty="0"/>
                  <a:t>throughput </a:t>
                </a:r>
                <a:r>
                  <a:rPr lang="el-GR" dirty="0"/>
                  <a:t>και υψηλό </a:t>
                </a:r>
                <a:r>
                  <a:rPr lang="en-US" dirty="0"/>
                  <a:t>efficiency </a:t>
                </a:r>
                <a:r>
                  <a:rPr lang="el-GR" dirty="0"/>
                  <a:t>στη μονάδα κρυπτογράφησης.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C9668334-493F-06E9-7D1C-8E7D9A09F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89" t="-1600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A5B46DD-F8B0-DC82-426A-92968A7A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72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C6869FD-9472-923B-538D-36C7B931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Μελλοντικές</a:t>
            </a:r>
            <a:r>
              <a:rPr lang="en-US" dirty="0"/>
              <a:t> </a:t>
            </a:r>
            <a:r>
              <a:rPr lang="el-GR" dirty="0"/>
              <a:t>Κατευθύνσεις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55BA5B-B2B1-9EFF-381D-B31AD9DEB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3392" y="1783560"/>
                <a:ext cx="10959008" cy="457200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l-GR" dirty="0"/>
                  <a:t>Χρήση μιας αρχιτεκτονικής επαναληπτικών γύρων (</a:t>
                </a:r>
                <a:r>
                  <a:rPr lang="en-US" dirty="0"/>
                  <a:t>round-based</a:t>
                </a:r>
                <a:r>
                  <a:rPr lang="el-GR" dirty="0"/>
                  <a:t>) με μία συνάρτηση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στην μονάδα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l-GR" dirty="0"/>
                  <a:t> για μείωση της επιφάνειας και της ενεργειακής κατανάλωσης.</a:t>
                </a:r>
              </a:p>
              <a:p>
                <a:pPr marL="68580" indent="0">
                  <a:buNone/>
                </a:pPr>
                <a:endParaRPr lang="el-GR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l-GR" dirty="0"/>
                  <a:t>Αντικατάσταση της μονάδας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l-GR" dirty="0"/>
                  <a:t>με μια νέα συνάρτηση </a:t>
                </a:r>
                <a:r>
                  <a:rPr lang="en-US" dirty="0"/>
                  <a:t>“S-</a:t>
                </a:r>
                <a:r>
                  <a:rPr lang="en-US" dirty="0" err="1"/>
                  <a:t>boxeless</a:t>
                </a:r>
                <a:r>
                  <a:rPr lang="en-US" dirty="0"/>
                  <a:t>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l-G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για την εξάλειψη των επιθέσεων </a:t>
                </a:r>
                <a:r>
                  <a:rPr lang="el-GR" dirty="0" err="1"/>
                  <a:t>κρυπτανάλυσης</a:t>
                </a:r>
                <a:r>
                  <a:rPr lang="el-GR" dirty="0"/>
                  <a:t> σχετικού κλειδιού </a:t>
                </a:r>
                <a:r>
                  <a:rPr lang="en-US" dirty="0"/>
                  <a:t>(related-key cryptanalysis)</a:t>
                </a:r>
                <a:r>
                  <a:rPr lang="el-GR" dirty="0"/>
                  <a:t> και την μείωση σε απαιτήσεις υλικού.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E655BA5B-B2B1-9EFF-381D-B31AD9DEB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783560"/>
                <a:ext cx="10959008" cy="4572000"/>
              </a:xfrm>
              <a:blipFill>
                <a:blip r:embed="rId3"/>
                <a:stretch>
                  <a:fillRect l="-389" t="-1600" r="-116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4279348-434E-796C-62B7-3382C1C0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4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3799-A399-59EA-2D23-5F9D3950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Αποτελέσματα Ερευνητικής Δραστηριότητας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595D-DCEE-D147-746D-A1AA02D32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Τα αποτελέσματα αυτής της έρευνας καθώς και οι υλοποιήσεις των προτεινόμενων βελτιστοποιήσεων θα υποβληθούν προς δημοσίευση:</a:t>
            </a:r>
          </a:p>
          <a:p>
            <a:endParaRPr lang="el-GR" dirty="0"/>
          </a:p>
          <a:p>
            <a:r>
              <a:rPr lang="en-US" i="1" dirty="0"/>
              <a:t>G. </a:t>
            </a:r>
            <a:r>
              <a:rPr lang="en-US" i="1" dirty="0" err="1"/>
              <a:t>Ntakos</a:t>
            </a:r>
            <a:r>
              <a:rPr lang="en-US" i="1" dirty="0"/>
              <a:t>, N. Sklavos, “Design and Implementation of Related Key Attack-Preventing Lightweight Authenticated Security Scheme, for the IoT”, The 26th International Symposium on Quality Electronic Design (ISQED’25), 23-25 April, San Francisco California, USA, (Submitted: October 2024).</a:t>
            </a:r>
            <a:endParaRPr lang="el-GR" i="1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45036-D5A6-B653-697C-664A4A5B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08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474EED-F88D-BB53-196A-3E5B874F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2348880"/>
            <a:ext cx="9793088" cy="828704"/>
          </a:xfrm>
        </p:spPr>
        <p:txBody>
          <a:bodyPr/>
          <a:lstStyle/>
          <a:p>
            <a:pPr algn="ctr"/>
            <a:r>
              <a:rPr lang="el-GR" dirty="0"/>
              <a:t>Σας ευχαριστώ πολύ για το χρόνο και το ενδιαφέρον σας ! 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038E6D-1091-1920-33DA-3A088BFB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  <p:sp>
        <p:nvSpPr>
          <p:cNvPr id="6" name="Τίτλος 1">
            <a:extLst>
              <a:ext uri="{FF2B5EF4-FFF2-40B4-BE49-F238E27FC236}">
                <a16:creationId xmlns:a16="http://schemas.microsoft.com/office/drawing/2014/main" id="{8C1C6CC3-2877-4677-1E3C-3FD6FA00D07C}"/>
              </a:ext>
            </a:extLst>
          </p:cNvPr>
          <p:cNvSpPr txBox="1">
            <a:spLocks/>
          </p:cNvSpPr>
          <p:nvPr/>
        </p:nvSpPr>
        <p:spPr>
          <a:xfrm>
            <a:off x="2423592" y="3933056"/>
            <a:ext cx="6552728" cy="82870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sz="4000" kern="1200" spc="-150" baseline="0">
                <a:solidFill>
                  <a:schemeClr val="tx2">
                    <a:satMod val="200000"/>
                  </a:schemeClr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extLst/>
          </a:lstStyle>
          <a:p>
            <a:pPr algn="ctr"/>
            <a:r>
              <a:rPr lang="el-GR" dirty="0"/>
              <a:t>Ερωτήσεις;</a:t>
            </a:r>
          </a:p>
        </p:txBody>
      </p:sp>
    </p:spTree>
    <p:extLst>
      <p:ext uri="{BB962C8B-B14F-4D97-AF65-F5344CB8AC3E}">
        <p14:creationId xmlns:p14="http://schemas.microsoft.com/office/powerpoint/2010/main" val="4139271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roducingPowerPoint2007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53000"/>
                <a:satMod val="200000"/>
              </a:schemeClr>
              <a:schemeClr val="phClr">
                <a:tint val="78000"/>
                <a:satMod val="2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IntroducingPowerPoint2007</Template>
  <TotalTime>0</TotalTime>
  <Words>2006</Words>
  <Application>Microsoft Office PowerPoint</Application>
  <PresentationFormat>Widescreen</PresentationFormat>
  <Paragraphs>393</Paragraphs>
  <Slides>39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IntroducingPowerPoint2007</vt:lpstr>
      <vt:lpstr>ΣχεδιασµΟς και ΥΛΟΠΟΙΗΣη Lightweight Authenticated ΣυστΗµατος ΚρυπτογρΑφησης, για το ΔιαδΙκτυο των ΠραγµΑτων</vt:lpstr>
      <vt:lpstr>Περίγραμμα Παρουσίασης</vt:lpstr>
      <vt:lpstr>Ανάγκη για Ασφαλή και Αποδοτικά Συστήματα στο IoT</vt:lpstr>
      <vt:lpstr>Υλοποίηση και Στόχοι της Εργασίας</vt:lpstr>
      <vt:lpstr>Ρόλος της Κρυπτογραφίας στο IoT &amp; Προκλήσεις Ασφάλειας</vt:lpstr>
      <vt:lpstr>Είδη Κρυπτογραφικών Αλγορίθμων</vt:lpstr>
      <vt:lpstr>Αλγόριθμοι Τμήματος και Δομή SPN</vt:lpstr>
      <vt:lpstr>Αλγόριθμοι Ροής</vt:lpstr>
      <vt:lpstr>Η Οικογένεια Hummingbird</vt:lpstr>
      <vt:lpstr>Γενική Αρχιτεκτονική HB-2</vt:lpstr>
      <vt:lpstr>S-boxes του HB-2</vt:lpstr>
      <vt:lpstr>Μη γραμμική Συνάρτηση Ανάμειξης f(x)</vt:lpstr>
      <vt:lpstr>Συνάρτηση Κλειδωμένης Μετάθεσης WD16 (1)</vt:lpstr>
      <vt:lpstr>Συνάρτηση Κλειδωμένης Μετάθεσης WD16 (2)</vt:lpstr>
      <vt:lpstr>Αρχιτεκτονική και Διαδικασία Αρχικοποίησης</vt:lpstr>
      <vt:lpstr>Αρχιτεκτονική και Διαδικασία Κρυπτογράφησης των 16 bit Μπλοκ</vt:lpstr>
      <vt:lpstr>Stream Cipher Κωδικοποίηση Πεδίων Μικρού Μήκους</vt:lpstr>
      <vt:lpstr>Μονάδα Υπολογισμού MAC</vt:lpstr>
      <vt:lpstr>Αντίστροφες Λειτουργίες f(x)  &amp; WD16 (1)</vt:lpstr>
      <vt:lpstr>Αντίστροφες Λειτουργίες f(x)  &amp; WD16 (2)</vt:lpstr>
      <vt:lpstr>Αντίστροφες Λειτουργίες f(x)  &amp; WD16 (3)</vt:lpstr>
      <vt:lpstr>Αρχιτεκτονική και Διαδικασία Αποκρυπτογράφησης</vt:lpstr>
      <vt:lpstr>Προτεινόμενος Σχεδιασμός HB-2</vt:lpstr>
      <vt:lpstr>Μηχανή πεπερασμένων καταστάσεων</vt:lpstr>
      <vt:lpstr>Βελτιστοποίηση στο Κόστος Υλικού</vt:lpstr>
      <vt:lpstr>Βελτιστοποίηση στη Συχνότητα Ρολογιού</vt:lpstr>
      <vt:lpstr>Βελτιστοποίηση στις Μονάδες f(x)  &amp; f^(-1) (x) (1)</vt:lpstr>
      <vt:lpstr>Βελτιστοποίηση στις Μονάδες f(x)  &amp; f^(-1) (x) (2)</vt:lpstr>
      <vt:lpstr>Βελτιστοποίηση στη Μονάδα WD16^(-1)</vt:lpstr>
      <vt:lpstr>Βελτιστοποίηση στις Διαδρομές των R Εσωτερικών Καταστάσεων </vt:lpstr>
      <vt:lpstr>Αρχιτεκτονική Pipe-lining Τεσσάρων Σταδίων</vt:lpstr>
      <vt:lpstr>Αρχιτεκτονική Pipe-lining Δύο Σταδίων</vt:lpstr>
      <vt:lpstr>Σύγκριση HB-2 με Άλλους Κρυπτογραφικούς Αλγόριθμους(1)</vt:lpstr>
      <vt:lpstr>Σύγκριση HB-2 με Άλλους Κρυπτογραφικούς Αλγόριθμους (2)</vt:lpstr>
      <vt:lpstr>Σύγκριση HB-2 με Άλλες Υλοποιήσεις της Οικογένειας  ΗΒ</vt:lpstr>
      <vt:lpstr>Συμπεράσματα</vt:lpstr>
      <vt:lpstr>Μελλοντικές Κατευθύνσεις </vt:lpstr>
      <vt:lpstr>Αποτελέσματα Ερευνητικής Δραστηριότητας</vt:lpstr>
      <vt:lpstr>Σας ευχαριστώ πολύ για το χρόνο και το ενδιαφέρον σας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2008-10-24T08:16:22Z</dcterms:created>
  <dcterms:modified xsi:type="dcterms:W3CDTF">2024-12-18T21:01:28Z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